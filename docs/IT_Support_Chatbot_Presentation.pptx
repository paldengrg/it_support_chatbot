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430"/>
                </a:solidFill>
                <a:latin typeface="Calibri"/>
              </a:defRPr>
            </a:pPr>
            <a:r>
              <a:rPr sz="1200" b="0" i="0" u="none" strike="noStrike">
                <a:solidFill>
                  <a:srgbClr val="1C2430"/>
                </a:solidFill>
                <a:latin typeface="Calibri"/>
              </a:rPr>
              <a:t>Articles per topic</a:t>
            </a:r>
          </a:p>
        </c:rich>
      </c:tx>
      <c:layout/>
      <c:overlay val="0"/>
    </c:title>
    <c:autoTitleDeleted val="0"/>
    <c:plotArea>
      <c:layout/>
      <c:barChart>
        <c:barDir val="bar"/>
        <c:grouping val="clustered"/>
        <c:varyColors val="0"/>
        <c:ser>
          <c:idx val="0"/>
          <c:order val="0"/>
          <c:tx>
            <c:strRef>
              <c:f>Sheet1!$B$1</c:f>
              <c:strCache>
                <c:ptCount val="1"/>
                <c:pt idx="0">
                  <c:v>Articles</c:v>
                </c:pt>
              </c:strCache>
            </c:strRef>
          </c:tx>
          <c:spPr>
            <a:solidFill>
              <a:srgbClr val="14897C"/>
            </a:solidFill>
            <a:effectLst/>
          </c:spPr>
          <c:invertIfNegative val="0"/>
          <c:dLbls>
            <c:numFmt formatCode="#,##0" sourceLinked="0"/>
            <c:txPr>
              <a:bodyPr/>
              <a:lstStyle/>
              <a:p>
                <a:pPr>
                  <a:defRPr b="0" i="0" strike="noStrike" sz="1100" u="none">
                    <a:solidFill>
                      <a:srgbClr val="1C2430"/>
                    </a:solidFill>
                    <a:latin typeface="Arial"/>
                  </a:defRPr>
                </a:pPr>
              </a:p>
            </c:txPr>
            <c:showLegendKey val="0"/>
            <c:showVal val="1"/>
            <c:showCatName val="0"/>
            <c:showSerName val="0"/>
            <c:showPercent val="0"/>
            <c:showBubbleSize val="0"/>
            <c:showLeaderLines val="0"/>
          </c:dLbls>
          <c:cat>
            <c:multiLvlStrRef>
              <c:f>Sheet1!$A$2:$A$7</c:f>
              <c:multiLvlStrCache>
                <c:ptCount val="6"/>
                <c:lvl>
                  <c:pt idx="0">
                    <c:v>Windows</c:v>
                  </c:pt>
                  <c:pt idx="1">
                    <c:v>macOS</c:v>
                  </c:pt>
                  <c:pt idx="2">
                    <c:v>Linux</c:v>
                  </c:pt>
                  <c:pt idx="3">
                    <c:v>Networking</c:v>
                  </c:pt>
                  <c:pt idx="4">
                    <c:v>Software</c:v>
                  </c:pt>
                  <c:pt idx="5">
                    <c:v>Licensing</c:v>
                  </c:pt>
                </c:lvl>
              </c:multiLvlStrCache>
            </c:multiLvlStrRef>
          </c:cat>
          <c:val>
            <c:numRef>
              <c:f>Sheet1!$B$2:$B$7</c:f>
              <c:numCache>
                <c:formatCode>General</c:formatCode>
                <c:ptCount val="6"/>
                <c:pt idx="0">
                  <c:v>2</c:v>
                </c:pt>
                <c:pt idx="1">
                  <c:v>2</c:v>
                </c:pt>
                <c:pt idx="2">
                  <c:v>2</c:v>
                </c:pt>
                <c:pt idx="3">
                  <c:v>2</c:v>
                </c:pt>
                <c:pt idx="4">
                  <c:v>3</c:v>
                </c:pt>
                <c:pt idx="5">
                  <c:v>3</c:v>
                </c:pt>
              </c:numCache>
            </c:numRef>
          </c:val>
        </c:ser>
        <c:dLbls>
          <c:numFmt formatCode="#,##0" sourceLinked="0"/>
          <c:txPr>
            <a:bodyPr/>
            <a:lstStyle/>
            <a:p>
              <a:pPr>
                <a:defRPr b="0" i="0" strike="noStrike" sz="1100" u="none">
                  <a:solidFill>
                    <a:srgbClr val="1C243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2430"/>
                </a:solidFill>
                <a:latin typeface="Arial"/>
              </a:defRPr>
            </a:pPr>
            <a:endParaRPr lang="en-US"/>
          </a:p>
        </c:txPr>
        <c:crossAx val="2094734552"/>
        <c:crosses val="autoZero"/>
        <c:auto val="1"/>
        <c:lblAlgn val="ctr"/>
        <c:noMultiLvlLbl val="1"/>
      </c:catAx>
      <c:valAx>
        <c:axId val="2094734552"/>
        <c:scaling>
          <c:orientation val="minMax"/>
          <c:max val="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Calibri"/>
              </a:defRPr>
            </a:pPr>
            <a:r>
              <a:rPr sz="1200" b="0" i="0" u="none" strike="noStrike">
                <a:solidFill>
                  <a:srgbClr val="FFFFFF"/>
                </a:solidFill>
                <a:latin typeface="Calibri"/>
              </a:rPr>
              <a:t>Test functions per file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5CC8B8"/>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Sheet1!$A$2:$A$12</c:f>
              <c:multiLvlStrCache>
                <c:ptCount val="11"/>
                <c:lvl>
                  <c:pt idx="0">
                    <c:v>chat API</c:v>
                  </c:pt>
                  <c:pt idx="1">
                    <c:v>router</c:v>
                  </c:pt>
                  <c:pt idx="2">
                    <c:v>license service</c:v>
                  </c:pt>
                  <c:pt idx="3">
                    <c:v>validation</c:v>
                  </c:pt>
                  <c:pt idx="4">
                    <c:v>Ollama client</c:v>
                  </c:pt>
                  <c:pt idx="5">
                    <c:v>ingest</c:v>
                  </c:pt>
                  <c:pt idx="6">
                    <c:v>prompts</c:v>
                  </c:pt>
                  <c:pt idx="7">
                    <c:v>config</c:v>
                  </c:pt>
                  <c:pt idx="8">
                    <c:v>health API</c:v>
                  </c:pt>
                  <c:pt idx="9">
                    <c:v>RAG</c:v>
                  </c:pt>
                  <c:pt idx="10">
                    <c:v>live Ollama smoke</c:v>
                  </c:pt>
                </c:lvl>
              </c:multiLvlStrCache>
            </c:multiLvlStrRef>
          </c:cat>
          <c:val>
            <c:numRef>
              <c:f>Sheet1!$B$2:$B$12</c:f>
              <c:numCache>
                <c:formatCode>General</c:formatCode>
                <c:ptCount val="11"/>
                <c:pt idx="0">
                  <c:v>13</c:v>
                </c:pt>
                <c:pt idx="1">
                  <c:v>12</c:v>
                </c:pt>
                <c:pt idx="2">
                  <c:v>9</c:v>
                </c:pt>
                <c:pt idx="3">
                  <c:v>9</c:v>
                </c:pt>
                <c:pt idx="4">
                  <c:v>7</c:v>
                </c:pt>
                <c:pt idx="5">
                  <c:v>5</c:v>
                </c:pt>
                <c:pt idx="6">
                  <c:v>5</c:v>
                </c:pt>
                <c:pt idx="7">
                  <c:v>4</c:v>
                </c:pt>
                <c:pt idx="8">
                  <c:v>4</c:v>
                </c:pt>
                <c:pt idx="9">
                  <c:v>3</c:v>
                </c:pt>
                <c:pt idx="10">
                  <c:v>2</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5E1E8"/>
                </a:solidFill>
                <a:latin typeface="Arial"/>
              </a:defRPr>
            </a:pPr>
            <a:endParaRPr lang="en-US"/>
          </a:p>
        </c:txPr>
        <c:crossAx val="2094734552"/>
        <c:crosses val="autoZero"/>
        <c:auto val="1"/>
        <c:lblAlgn val="ctr"/>
        <c:noMultiLvlLbl val="1"/>
      </c:catAx>
      <c:valAx>
        <c:axId val="2094734552"/>
        <c:scaling>
          <c:orientation val="minMax"/>
          <c:max val="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IT Support Assistant for a fictional IT company. It runs entirely on a local machine using Ollama, answers only IT and licensing questions, and grounds its answers in a company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scope control matters: a helpdesk tool that answers recipes or invents license prices would be a liability. The four success criteria on the right come straight from the design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out-of-scope message is returned word for word by the backend, so the model can't paraphrase or partly answer the off-topic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decisions: Gemma 2 2B was chosen because it was already installed and is small enough for a laptop. Ollama embeddings replaced sentence-transformers to avoid PyTorch and Python 3.14 install problems, so one model server does both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browser posts the message and history to FastAPI. The backend embeds the question with Ollama, searches ChromaDB, optionally reads the license catalog, then asks Gemma for an answer and streams it straight back to the browser. The knowledge base is loaded into Chroma by a separate ingest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detail worth mentioning: Gemma's Ollama template renders system messages as user turns, so the knowledge-base context is placed inside the final user message, right before the question, rather than in a second system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only sends a message to the refusal if it has no IT vocabulary AND matches an off-topic pattern. Anything ambiguous goes to the model, and the system prompt tells Gemma to ask a clarifying question. Each of the tricky cases on the right has its own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knowledge is simple: drop a Markdown file into backend/knowledge/&lt;topic&gt;, use # Title and ## Section headings, and re-run the ingest script. The ingest rebuilds the Chroma collection from scratch every time, so it is safe to run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only sees license rows that match the question, inside a LICENSE DATA block. AutoCAD is deliberately marked unavailable so we can show that the bot tells the user it isn't offered, rather than quoting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failure modes were the review focus in the implementation plan, and each one has a matching automated test. The health endpoint returns ok or degraded, whether Ollama is reachable, the installed models and the number of knowledge-base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mock-up on the left is illustrative. lib/api.js uses fetch with a ReadableStream to append tokens as they arrive, then strips the [[SOURCES]] trailer and shows the source files beneath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tests use pytest and FastAPI's TestClient with Ollama and the knowledge base faked, so they prove that greetings and off-topic messages never call the LLM, that license data reaches the prompt, and that failures produce 503s. Many router tests are parametrised, so the number of executed cases is higher than 73. The live Ollama smoke tests are skipped when Ollama isn't running. The frontend was verified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start Ollama, run the backend with uvicorn and the frontend with npm run dev, and open http://localhost:3000. Check http://localhost:8000/api/health shows status ok. Alternatively run docker compose up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the design spec and the git history. The router fix and the Docker fix were both found while testing the finished system, which shows the value of running it end to end, not just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persistent history, real payments and an admin UI were deliberately left out of scope for this version, as recorded in the design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one sentence,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12B"/>
        </a:solidFill>
      </p:bgPr>
    </p:bg>
    <p:spTree>
      <p:nvGrpSpPr>
        <p:cNvPr id="1" name=""/>
        <p:cNvGrpSpPr/>
        <p:nvPr/>
      </p:nvGrpSpPr>
      <p:grpSpPr>
        <a:xfrm>
          <a:off x="0" y="0"/>
          <a:ext cx="0" cy="0"/>
          <a:chOff x="0" y="0"/>
          <a:chExt cx="0" cy="0"/>
        </a:xfrm>
      </p:grpSpPr>
      <p:sp>
        <p:nvSpPr>
          <p:cNvPr id="2" name="Shape 0"/>
          <p:cNvSpPr/>
          <p:nvPr/>
        </p:nvSpPr>
        <p:spPr>
          <a:xfrm>
            <a:off x="548640" y="914400"/>
            <a:ext cx="731520" cy="731520"/>
          </a:xfrm>
          <a:prstGeom prst="roundRect">
            <a:avLst>
              <a:gd name="adj" fmla="val 12500"/>
            </a:avLst>
          </a:prstGeom>
          <a:solidFill>
            <a:srgbClr val="14897C"/>
          </a:solidFill>
          <a:ln w="12700">
            <a:solidFill>
              <a:srgbClr val="14897C"/>
            </a:solidFill>
            <a:prstDash val="solid"/>
          </a:ln>
        </p:spPr>
      </p:sp>
      <p:pic>
        <p:nvPicPr>
          <p:cNvPr id="3" name="Image 0" descr="preencoded.png">    </p:cNvPr>
          <p:cNvPicPr>
            <a:picLocks noChangeAspect="1"/>
          </p:cNvPicPr>
          <p:nvPr/>
        </p:nvPicPr>
        <p:blipFill>
          <a:blip r:embed="rId1"/>
          <a:stretch>
            <a:fillRect/>
          </a:stretch>
        </p:blipFill>
        <p:spPr>
          <a:xfrm>
            <a:off x="724205" y="1089965"/>
            <a:ext cx="380390" cy="380390"/>
          </a:xfrm>
          <a:prstGeom prst="rect">
            <a:avLst/>
          </a:prstGeom>
        </p:spPr>
      </p:pic>
      <p:sp>
        <p:nvSpPr>
          <p:cNvPr id="4" name="Text 1"/>
          <p:cNvSpPr txBox="1"/>
          <p:nvPr/>
        </p:nvSpPr>
        <p:spPr>
          <a:xfrm>
            <a:off x="548640" y="1828800"/>
            <a:ext cx="77724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IT Support Chatbot</a:t>
            </a:r>
            <a:endParaRPr lang="en-US" sz="4200" dirty="0"/>
          </a:p>
        </p:txBody>
      </p:sp>
      <p:sp>
        <p:nvSpPr>
          <p:cNvPr id="5" name="Text 2"/>
          <p:cNvSpPr txBox="1"/>
          <p:nvPr/>
        </p:nvSpPr>
        <p:spPr>
          <a:xfrm>
            <a:off x="548640" y="2651760"/>
            <a:ext cx="7315200" cy="731520"/>
          </a:xfrm>
          <a:prstGeom prst="rect">
            <a:avLst/>
          </a:prstGeom>
          <a:noFill/>
          <a:ln/>
        </p:spPr>
        <p:txBody>
          <a:bodyPr wrap="square" lIns="0" tIns="0" rIns="0" bIns="0" rtlCol="0" anchor="ctr"/>
          <a:lstStyle/>
          <a:p>
            <a:pPr indent="0" marL="0">
              <a:buNone/>
            </a:pPr>
            <a:r>
              <a:rPr lang="en-US" sz="1800" dirty="0">
                <a:solidFill>
                  <a:srgbClr val="BFD3DC"/>
                </a:solidFill>
                <a:latin typeface="Calibri" pitchFamily="34" charset="0"/>
                <a:ea typeface="Calibri" pitchFamily="34" charset="-122"/>
                <a:cs typeface="Calibri" pitchFamily="34" charset="-120"/>
              </a:rPr>
              <a:t>A local, knowledge-grounded assistant for IT troubleshooting and software licensing</a:t>
            </a:r>
            <a:endParaRPr lang="en-US" sz="1800" dirty="0"/>
          </a:p>
        </p:txBody>
      </p:sp>
      <p:sp>
        <p:nvSpPr>
          <p:cNvPr id="6" name="Text 3"/>
          <p:cNvSpPr txBox="1"/>
          <p:nvPr/>
        </p:nvSpPr>
        <p:spPr>
          <a:xfrm>
            <a:off x="548640" y="4114800"/>
            <a:ext cx="7772400" cy="365760"/>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ITEC 320</a:t>
            </a:r>
            <a:pPr indent="0" marL="0">
              <a:buNone/>
            </a:pPr>
            <a:r>
              <a:rPr lang="en-US" sz="1400" dirty="0">
                <a:solidFill>
                  <a:srgbClr val="BFD3DC"/>
                </a:solidFill>
                <a:latin typeface="Calibri" pitchFamily="34" charset="0"/>
                <a:ea typeface="Calibri" pitchFamily="34" charset="-122"/>
                <a:cs typeface="Calibri" pitchFamily="34" charset="-120"/>
              </a:rPr>
              <a:t>   ·   Don Da   ·   Australian Catholic University, Sydney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The problem and the goal</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5F6B7A"/>
                </a:solidFill>
                <a:latin typeface="Calibri" pitchFamily="34" charset="0"/>
                <a:ea typeface="Calibri" pitchFamily="34" charset="-122"/>
                <a:cs typeface="Calibri" pitchFamily="34" charset="-120"/>
              </a:rPr>
              <a:t>General-purpose chatbots drift off-topic and invent answers. A helpdesk bot can't.</a:t>
            </a:r>
            <a:endParaRPr lang="en-US" sz="1400" dirty="0"/>
          </a:p>
        </p:txBody>
      </p:sp>
      <p:sp>
        <p:nvSpPr>
          <p:cNvPr id="4" name="Shape 2"/>
          <p:cNvSpPr/>
          <p:nvPr/>
        </p:nvSpPr>
        <p:spPr>
          <a:xfrm>
            <a:off x="457200" y="1371600"/>
            <a:ext cx="3840480" cy="3291840"/>
          </a:xfrm>
          <a:prstGeom prst="roundRect">
            <a:avLst>
              <a:gd name="adj" fmla="val 2222"/>
            </a:avLst>
          </a:prstGeom>
          <a:solidFill>
            <a:srgbClr val="10212B"/>
          </a:solidFill>
          <a:ln w="12700">
            <a:solidFill>
              <a:srgbClr val="10212B"/>
            </a:solidFill>
            <a:prstDash val="solid"/>
          </a:ln>
        </p:spPr>
      </p:sp>
      <p:sp>
        <p:nvSpPr>
          <p:cNvPr id="5" name="Text 3"/>
          <p:cNvSpPr txBox="1"/>
          <p:nvPr/>
        </p:nvSpPr>
        <p:spPr>
          <a:xfrm>
            <a:off x="731520" y="1554480"/>
            <a:ext cx="3291840" cy="365760"/>
          </a:xfrm>
          <a:prstGeom prst="rect">
            <a:avLst/>
          </a:prstGeom>
          <a:noFill/>
          <a:ln/>
        </p:spPr>
        <p:txBody>
          <a:bodyPr wrap="square" lIns="0" tIns="0" rIns="0" bIns="0" rtlCol="0" anchor="ctr"/>
          <a:lstStyle/>
          <a:p>
            <a:pPr indent="0" marL="0">
              <a:buNone/>
            </a:pPr>
            <a:r>
              <a:rPr lang="en-US" sz="1800" b="1" dirty="0">
                <a:solidFill>
                  <a:srgbClr val="F2A541"/>
                </a:solidFill>
                <a:latin typeface="Arial" pitchFamily="34" charset="0"/>
                <a:ea typeface="Arial" pitchFamily="34" charset="-122"/>
                <a:cs typeface="Arial" pitchFamily="34" charset="-120"/>
              </a:rPr>
              <a:t>Goal</a:t>
            </a:r>
            <a:endParaRPr lang="en-US" sz="1800" dirty="0"/>
          </a:p>
        </p:txBody>
      </p:sp>
      <p:sp>
        <p:nvSpPr>
          <p:cNvPr id="6" name="Text 4"/>
          <p:cNvSpPr txBox="1"/>
          <p:nvPr/>
        </p:nvSpPr>
        <p:spPr>
          <a:xfrm>
            <a:off x="731520" y="2011680"/>
            <a:ext cx="3291840" cy="1828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Build an IT Support Assistant that answers IT questions from a company knowledge base, streams the answer with its sources, and refuses anything outside IT with a fixed contact message.</a:t>
            </a:r>
            <a:endParaRPr lang="en-US" sz="1500" dirty="0"/>
          </a:p>
        </p:txBody>
      </p:sp>
      <p:sp>
        <p:nvSpPr>
          <p:cNvPr id="7" name="Text 5"/>
          <p:cNvSpPr txBox="1"/>
          <p:nvPr/>
        </p:nvSpPr>
        <p:spPr>
          <a:xfrm>
            <a:off x="731520" y="3840480"/>
            <a:ext cx="3291840" cy="640080"/>
          </a:xfrm>
          <a:prstGeom prst="rect">
            <a:avLst/>
          </a:prstGeom>
          <a:noFill/>
          <a:ln/>
        </p:spPr>
        <p:txBody>
          <a:bodyPr wrap="square" lIns="0" tIns="0" rIns="0" bIns="0" rtlCol="0" anchor="ctr"/>
          <a:lstStyle/>
          <a:p>
            <a:pPr indent="0" marL="0">
              <a:buNone/>
            </a:pPr>
            <a:r>
              <a:rPr lang="en-US" sz="1200" i="1" dirty="0">
                <a:solidFill>
                  <a:srgbClr val="9FC7C1"/>
                </a:solidFill>
                <a:latin typeface="Calibri" pitchFamily="34" charset="0"/>
                <a:ea typeface="Calibri" pitchFamily="34" charset="-122"/>
                <a:cs typeface="Calibri" pitchFamily="34" charset="-120"/>
              </a:rPr>
              <a:t>Runs 100% locally with Ollama. No cloud API, no data leaves the machine.</a:t>
            </a:r>
            <a:endParaRPr lang="en-US" sz="1200" dirty="0"/>
          </a:p>
        </p:txBody>
      </p:sp>
      <p:sp>
        <p:nvSpPr>
          <p:cNvPr id="8" name="Shape 6"/>
          <p:cNvSpPr/>
          <p:nvPr/>
        </p:nvSpPr>
        <p:spPr>
          <a:xfrm>
            <a:off x="4572000" y="1444752"/>
            <a:ext cx="457200" cy="457200"/>
          </a:xfrm>
          <a:prstGeom prst="roundRect">
            <a:avLst>
              <a:gd name="adj" fmla="val 20000"/>
            </a:avLst>
          </a:prstGeom>
          <a:solidFill>
            <a:srgbClr val="14897C"/>
          </a:solidFill>
          <a:ln w="12700">
            <a:solidFill>
              <a:srgbClr val="14897C"/>
            </a:solidFill>
            <a:prstDash val="solid"/>
          </a:ln>
        </p:spPr>
      </p:sp>
      <p:pic>
        <p:nvPicPr>
          <p:cNvPr id="9" name="Image 0" descr="preencoded.png">    </p:cNvPr>
          <p:cNvPicPr>
            <a:picLocks noChangeAspect="1"/>
          </p:cNvPicPr>
          <p:nvPr/>
        </p:nvPicPr>
        <p:blipFill>
          <a:blip r:embed="rId1"/>
          <a:stretch>
            <a:fillRect/>
          </a:stretch>
        </p:blipFill>
        <p:spPr>
          <a:xfrm>
            <a:off x="4681728" y="1554480"/>
            <a:ext cx="237744" cy="237744"/>
          </a:xfrm>
          <a:prstGeom prst="rect">
            <a:avLst/>
          </a:prstGeom>
        </p:spPr>
      </p:pic>
      <p:sp>
        <p:nvSpPr>
          <p:cNvPr id="10" name="Text 7"/>
          <p:cNvSpPr txBox="1"/>
          <p:nvPr/>
        </p:nvSpPr>
        <p:spPr>
          <a:xfrm>
            <a:off x="5212080" y="1371600"/>
            <a:ext cx="3474720" cy="292608"/>
          </a:xfrm>
          <a:prstGeom prst="rect">
            <a:avLst/>
          </a:prstGeom>
          <a:noFill/>
          <a:ln/>
        </p:spPr>
        <p:txBody>
          <a:bodyPr wrap="square" lIns="0" tIns="0" rIns="0" bIns="0" rtlCol="0" anchor="ctr"/>
          <a:lstStyle/>
          <a:p>
            <a:pPr indent="0" marL="0">
              <a:buNone/>
            </a:pPr>
            <a:r>
              <a:rPr lang="en-US" sz="1400" b="1" dirty="0">
                <a:solidFill>
                  <a:srgbClr val="1C2430"/>
                </a:solidFill>
                <a:latin typeface="Arial" pitchFamily="34" charset="0"/>
                <a:ea typeface="Arial" pitchFamily="34" charset="-122"/>
                <a:cs typeface="Arial" pitchFamily="34" charset="-120"/>
              </a:rPr>
              <a:t>Grounded, streamed answers</a:t>
            </a:r>
            <a:endParaRPr lang="en-US" sz="1400" dirty="0"/>
          </a:p>
        </p:txBody>
      </p:sp>
      <p:sp>
        <p:nvSpPr>
          <p:cNvPr id="11" name="Text 8"/>
          <p:cNvSpPr txBox="1"/>
          <p:nvPr/>
        </p:nvSpPr>
        <p:spPr>
          <a:xfrm>
            <a:off x="5212080" y="1664208"/>
            <a:ext cx="3474720" cy="45720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IT questions get answers built from the knowledge base, with sources shown.</a:t>
            </a:r>
            <a:endParaRPr lang="en-US" sz="1200" dirty="0"/>
          </a:p>
        </p:txBody>
      </p:sp>
      <p:sp>
        <p:nvSpPr>
          <p:cNvPr id="12" name="Shape 9"/>
          <p:cNvSpPr/>
          <p:nvPr/>
        </p:nvSpPr>
        <p:spPr>
          <a:xfrm>
            <a:off x="4572000" y="2286000"/>
            <a:ext cx="457200" cy="457200"/>
          </a:xfrm>
          <a:prstGeom prst="roundRect">
            <a:avLst>
              <a:gd name="adj" fmla="val 20000"/>
            </a:avLst>
          </a:prstGeom>
          <a:solidFill>
            <a:srgbClr val="14897C"/>
          </a:solidFill>
          <a:ln w="12700">
            <a:solidFill>
              <a:srgbClr val="14897C"/>
            </a:solidFill>
            <a:prstDash val="solid"/>
          </a:ln>
        </p:spPr>
      </p:sp>
      <p:pic>
        <p:nvPicPr>
          <p:cNvPr id="13" name="Image 1" descr="preencoded.png">    </p:cNvPr>
          <p:cNvPicPr>
            <a:picLocks noChangeAspect="1"/>
          </p:cNvPicPr>
          <p:nvPr/>
        </p:nvPicPr>
        <p:blipFill>
          <a:blip r:embed="rId2"/>
          <a:stretch>
            <a:fillRect/>
          </a:stretch>
        </p:blipFill>
        <p:spPr>
          <a:xfrm>
            <a:off x="4681728" y="2395728"/>
            <a:ext cx="237744" cy="237744"/>
          </a:xfrm>
          <a:prstGeom prst="rect">
            <a:avLst/>
          </a:prstGeom>
        </p:spPr>
      </p:pic>
      <p:sp>
        <p:nvSpPr>
          <p:cNvPr id="14" name="Text 10"/>
          <p:cNvSpPr txBox="1"/>
          <p:nvPr/>
        </p:nvSpPr>
        <p:spPr>
          <a:xfrm>
            <a:off x="5212080" y="2212848"/>
            <a:ext cx="3474720" cy="292608"/>
          </a:xfrm>
          <a:prstGeom prst="rect">
            <a:avLst/>
          </a:prstGeom>
          <a:noFill/>
          <a:ln/>
        </p:spPr>
        <p:txBody>
          <a:bodyPr wrap="square" lIns="0" tIns="0" rIns="0" bIns="0" rtlCol="0" anchor="ctr"/>
          <a:lstStyle/>
          <a:p>
            <a:pPr indent="0" marL="0">
              <a:buNone/>
            </a:pPr>
            <a:r>
              <a:rPr lang="en-US" sz="1400" b="1" dirty="0">
                <a:solidFill>
                  <a:srgbClr val="1C2430"/>
                </a:solidFill>
                <a:latin typeface="Arial" pitchFamily="34" charset="0"/>
                <a:ea typeface="Arial" pitchFamily="34" charset="-122"/>
                <a:cs typeface="Arial" pitchFamily="34" charset="-120"/>
              </a:rPr>
              <a:t>Canned greetings</a:t>
            </a:r>
            <a:endParaRPr lang="en-US" sz="1400" dirty="0"/>
          </a:p>
        </p:txBody>
      </p:sp>
      <p:sp>
        <p:nvSpPr>
          <p:cNvPr id="15" name="Text 11"/>
          <p:cNvSpPr txBox="1"/>
          <p:nvPr/>
        </p:nvSpPr>
        <p:spPr>
          <a:xfrm>
            <a:off x="5212080" y="2505456"/>
            <a:ext cx="3474720" cy="45720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"Hi" or "thanks" get a short reply that invites an IT question.</a:t>
            </a:r>
            <a:endParaRPr lang="en-US" sz="1200" dirty="0"/>
          </a:p>
        </p:txBody>
      </p:sp>
      <p:sp>
        <p:nvSpPr>
          <p:cNvPr id="16" name="Shape 12"/>
          <p:cNvSpPr/>
          <p:nvPr/>
        </p:nvSpPr>
        <p:spPr>
          <a:xfrm>
            <a:off x="4572000" y="3127248"/>
            <a:ext cx="457200" cy="457200"/>
          </a:xfrm>
          <a:prstGeom prst="roundRect">
            <a:avLst>
              <a:gd name="adj" fmla="val 20000"/>
            </a:avLst>
          </a:prstGeom>
          <a:solidFill>
            <a:srgbClr val="14897C"/>
          </a:solidFill>
          <a:ln w="12700">
            <a:solidFill>
              <a:srgbClr val="14897C"/>
            </a:solidFill>
            <a:prstDash val="solid"/>
          </a:ln>
        </p:spPr>
      </p:sp>
      <p:pic>
        <p:nvPicPr>
          <p:cNvPr id="17" name="Image 2" descr="preencoded.png">    </p:cNvPr>
          <p:cNvPicPr>
            <a:picLocks noChangeAspect="1"/>
          </p:cNvPicPr>
          <p:nvPr/>
        </p:nvPicPr>
        <p:blipFill>
          <a:blip r:embed="rId3"/>
          <a:stretch>
            <a:fillRect/>
          </a:stretch>
        </p:blipFill>
        <p:spPr>
          <a:xfrm>
            <a:off x="4681728" y="3236976"/>
            <a:ext cx="237744" cy="237744"/>
          </a:xfrm>
          <a:prstGeom prst="rect">
            <a:avLst/>
          </a:prstGeom>
        </p:spPr>
      </p:pic>
      <p:sp>
        <p:nvSpPr>
          <p:cNvPr id="18" name="Text 13"/>
          <p:cNvSpPr txBox="1"/>
          <p:nvPr/>
        </p:nvSpPr>
        <p:spPr>
          <a:xfrm>
            <a:off x="5212080" y="3054096"/>
            <a:ext cx="3474720" cy="292608"/>
          </a:xfrm>
          <a:prstGeom prst="rect">
            <a:avLst/>
          </a:prstGeom>
          <a:noFill/>
          <a:ln/>
        </p:spPr>
        <p:txBody>
          <a:bodyPr wrap="square" lIns="0" tIns="0" rIns="0" bIns="0" rtlCol="0" anchor="ctr"/>
          <a:lstStyle/>
          <a:p>
            <a:pPr indent="0" marL="0">
              <a:buNone/>
            </a:pPr>
            <a:r>
              <a:rPr lang="en-US" sz="1400" b="1" dirty="0">
                <a:solidFill>
                  <a:srgbClr val="1C2430"/>
                </a:solidFill>
                <a:latin typeface="Arial" pitchFamily="34" charset="0"/>
                <a:ea typeface="Arial" pitchFamily="34" charset="-122"/>
                <a:cs typeface="Arial" pitchFamily="34" charset="-120"/>
              </a:rPr>
              <a:t>Strict scope</a:t>
            </a:r>
            <a:endParaRPr lang="en-US" sz="1400" dirty="0"/>
          </a:p>
        </p:txBody>
      </p:sp>
      <p:sp>
        <p:nvSpPr>
          <p:cNvPr id="19" name="Text 14"/>
          <p:cNvSpPr txBox="1"/>
          <p:nvPr/>
        </p:nvSpPr>
        <p:spPr>
          <a:xfrm>
            <a:off x="5212080" y="3346704"/>
            <a:ext cx="3474720" cy="45720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Off-topic requests get the exact refusal and never reach the LLM.</a:t>
            </a:r>
            <a:endParaRPr lang="en-US" sz="1200" dirty="0"/>
          </a:p>
        </p:txBody>
      </p:sp>
      <p:sp>
        <p:nvSpPr>
          <p:cNvPr id="20" name="Shape 15"/>
          <p:cNvSpPr/>
          <p:nvPr/>
        </p:nvSpPr>
        <p:spPr>
          <a:xfrm>
            <a:off x="4572000" y="3968496"/>
            <a:ext cx="457200" cy="457200"/>
          </a:xfrm>
          <a:prstGeom prst="roundRect">
            <a:avLst>
              <a:gd name="adj" fmla="val 20000"/>
            </a:avLst>
          </a:prstGeom>
          <a:solidFill>
            <a:srgbClr val="14897C"/>
          </a:solidFill>
          <a:ln w="12700">
            <a:solidFill>
              <a:srgbClr val="14897C"/>
            </a:solidFill>
            <a:prstDash val="solid"/>
          </a:ln>
        </p:spPr>
      </p:sp>
      <p:pic>
        <p:nvPicPr>
          <p:cNvPr id="21" name="Image 3" descr="preencoded.png">    </p:cNvPr>
          <p:cNvPicPr>
            <a:picLocks noChangeAspect="1"/>
          </p:cNvPicPr>
          <p:nvPr/>
        </p:nvPicPr>
        <p:blipFill>
          <a:blip r:embed="rId4"/>
          <a:stretch>
            <a:fillRect/>
          </a:stretch>
        </p:blipFill>
        <p:spPr>
          <a:xfrm>
            <a:off x="4681728" y="4078224"/>
            <a:ext cx="237744" cy="237744"/>
          </a:xfrm>
          <a:prstGeom prst="rect">
            <a:avLst/>
          </a:prstGeom>
        </p:spPr>
      </p:pic>
      <p:sp>
        <p:nvSpPr>
          <p:cNvPr id="22" name="Text 16"/>
          <p:cNvSpPr txBox="1"/>
          <p:nvPr/>
        </p:nvSpPr>
        <p:spPr>
          <a:xfrm>
            <a:off x="5212080" y="3895344"/>
            <a:ext cx="3474720" cy="292608"/>
          </a:xfrm>
          <a:prstGeom prst="rect">
            <a:avLst/>
          </a:prstGeom>
          <a:noFill/>
          <a:ln/>
        </p:spPr>
        <p:txBody>
          <a:bodyPr wrap="square" lIns="0" tIns="0" rIns="0" bIns="0" rtlCol="0" anchor="ctr"/>
          <a:lstStyle/>
          <a:p>
            <a:pPr indent="0" marL="0">
              <a:buNone/>
            </a:pPr>
            <a:r>
              <a:rPr lang="en-US" sz="1400" b="1" dirty="0">
                <a:solidFill>
                  <a:srgbClr val="1C2430"/>
                </a:solidFill>
                <a:latin typeface="Arial" pitchFamily="34" charset="0"/>
                <a:ea typeface="Arial" pitchFamily="34" charset="-122"/>
                <a:cs typeface="Arial" pitchFamily="34" charset="-120"/>
              </a:rPr>
              <a:t>Honest licensing</a:t>
            </a:r>
            <a:endParaRPr lang="en-US" sz="1400" dirty="0"/>
          </a:p>
        </p:txBody>
      </p:sp>
      <p:sp>
        <p:nvSpPr>
          <p:cNvPr id="23" name="Text 17"/>
          <p:cNvSpPr txBox="1"/>
          <p:nvPr/>
        </p:nvSpPr>
        <p:spPr>
          <a:xfrm>
            <a:off x="5212080" y="4187952"/>
            <a:ext cx="3474720" cy="45720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Prices and availability come only from licenses.json. No invented keys.</a:t>
            </a:r>
            <a:endParaRPr lang="en-US" sz="1200" dirty="0"/>
          </a:p>
        </p:txBody>
      </p:sp>
      <p:sp>
        <p:nvSpPr>
          <p:cNvPr id="24" name="Text 18"/>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What it will and won't answer</a:t>
            </a:r>
            <a:endParaRPr lang="en-US" sz="2800" dirty="0"/>
          </a:p>
        </p:txBody>
      </p:sp>
      <p:sp>
        <p:nvSpPr>
          <p:cNvPr id="3" name="Shape 1"/>
          <p:cNvSpPr/>
          <p:nvPr/>
        </p:nvSpPr>
        <p:spPr>
          <a:xfrm>
            <a:off x="457200" y="1097280"/>
            <a:ext cx="3931920" cy="3566160"/>
          </a:xfrm>
          <a:prstGeom prst="roundRect">
            <a:avLst>
              <a:gd name="adj" fmla="val 2051"/>
            </a:avLst>
          </a:prstGeom>
          <a:solidFill>
            <a:srgbClr val="D8F0EC"/>
          </a:solidFill>
          <a:ln w="12700">
            <a:solidFill>
              <a:srgbClr val="D8F0EC"/>
            </a:solidFill>
            <a:prstDash val="solid"/>
          </a:ln>
        </p:spPr>
      </p:sp>
      <p:sp>
        <p:nvSpPr>
          <p:cNvPr id="4" name="Text 2"/>
          <p:cNvSpPr txBox="1"/>
          <p:nvPr/>
        </p:nvSpPr>
        <p:spPr>
          <a:xfrm>
            <a:off x="731520" y="1280160"/>
            <a:ext cx="3474720" cy="365760"/>
          </a:xfrm>
          <a:prstGeom prst="rect">
            <a:avLst/>
          </a:prstGeom>
          <a:noFill/>
          <a:ln/>
        </p:spPr>
        <p:txBody>
          <a:bodyPr wrap="square" lIns="0" tIns="0" rIns="0" bIns="0" rtlCol="0" anchor="ctr"/>
          <a:lstStyle/>
          <a:p>
            <a:pPr indent="0" marL="0">
              <a:buNone/>
            </a:pPr>
            <a:r>
              <a:rPr lang="en-US" sz="1800" b="1" dirty="0">
                <a:solidFill>
                  <a:srgbClr val="14897C"/>
                </a:solidFill>
                <a:latin typeface="Arial" pitchFamily="34" charset="0"/>
                <a:ea typeface="Arial" pitchFamily="34" charset="-122"/>
                <a:cs typeface="Arial" pitchFamily="34" charset="-120"/>
              </a:rPr>
              <a:t>In scope</a:t>
            </a:r>
            <a:endParaRPr lang="en-US" sz="1800" dirty="0"/>
          </a:p>
        </p:txBody>
      </p:sp>
      <p:sp>
        <p:nvSpPr>
          <p:cNvPr id="5" name="Text 3"/>
          <p:cNvSpPr txBox="1"/>
          <p:nvPr/>
        </p:nvSpPr>
        <p:spPr>
          <a:xfrm>
            <a:off x="731520" y="1737360"/>
            <a:ext cx="347472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C2430"/>
                </a:solidFill>
                <a:latin typeface="Calibri" pitchFamily="34" charset="0"/>
                <a:ea typeface="Calibri" pitchFamily="34" charset="-122"/>
                <a:cs typeface="Calibri" pitchFamily="34" charset="-120"/>
              </a:rPr>
              <a:t>Windows, macOS and Linux support</a:t>
            </a:r>
            <a:endParaRPr lang="en-US" sz="1500" dirty="0"/>
          </a:p>
          <a:p>
            <a:pPr marL="342900" indent="-342900">
              <a:spcAft>
                <a:spcPts val="800"/>
              </a:spcAft>
              <a:buSzPct val="100000"/>
              <a:buChar char="•"/>
            </a:pPr>
            <a:r>
              <a:rPr lang="en-US" sz="1500" dirty="0">
                <a:solidFill>
                  <a:srgbClr val="1C2430"/>
                </a:solidFill>
                <a:latin typeface="Calibri" pitchFamily="34" charset="0"/>
                <a:ea typeface="Calibri" pitchFamily="34" charset="-122"/>
                <a:cs typeface="Calibri" pitchFamily="34" charset="-120"/>
              </a:rPr>
              <a:t>Software install, config and troubleshooting</a:t>
            </a:r>
            <a:endParaRPr lang="en-US" sz="1500" dirty="0"/>
          </a:p>
          <a:p>
            <a:pPr marL="342900" indent="-342900">
              <a:spcAft>
                <a:spcPts val="800"/>
              </a:spcAft>
              <a:buSzPct val="100000"/>
              <a:buChar char="•"/>
            </a:pPr>
            <a:r>
              <a:rPr lang="en-US" sz="1500" dirty="0">
                <a:solidFill>
                  <a:srgbClr val="1C2430"/>
                </a:solidFill>
                <a:latin typeface="Calibri" pitchFamily="34" charset="0"/>
                <a:ea typeface="Calibri" pitchFamily="34" charset="-122"/>
                <a:cs typeface="Calibri" pitchFamily="34" charset="-120"/>
              </a:rPr>
              <a:t>Wi-Fi, basic networking and VPN</a:t>
            </a:r>
            <a:endParaRPr lang="en-US" sz="1500" dirty="0"/>
          </a:p>
          <a:p>
            <a:pPr marL="342900" indent="-342900">
              <a:spcAft>
                <a:spcPts val="800"/>
              </a:spcAft>
              <a:buSzPct val="100000"/>
              <a:buChar char="•"/>
            </a:pPr>
            <a:r>
              <a:rPr lang="en-US" sz="1500" dirty="0">
                <a:solidFill>
                  <a:srgbClr val="1C2430"/>
                </a:solidFill>
                <a:latin typeface="Calibri" pitchFamily="34" charset="0"/>
                <a:ea typeface="Calibri" pitchFamily="34" charset="-122"/>
                <a:cs typeface="Calibri" pitchFamily="34" charset="-120"/>
              </a:rPr>
              <a:t>Email setup, account and login issues</a:t>
            </a:r>
            <a:endParaRPr lang="en-US" sz="1500" dirty="0"/>
          </a:p>
          <a:p>
            <a:pPr marL="342900" indent="-342900">
              <a:spcAft>
                <a:spcPts val="800"/>
              </a:spcAft>
              <a:buSzPct val="100000"/>
              <a:buChar char="•"/>
            </a:pPr>
            <a:r>
              <a:rPr lang="en-US" sz="1500" dirty="0">
                <a:solidFill>
                  <a:srgbClr val="1C2430"/>
                </a:solidFill>
                <a:latin typeface="Calibri" pitchFamily="34" charset="0"/>
                <a:ea typeface="Calibri" pitchFamily="34" charset="-122"/>
                <a:cs typeface="Calibri" pitchFamily="34" charset="-120"/>
              </a:rPr>
              <a:t>License purchase, activation and renewal</a:t>
            </a:r>
            <a:endParaRPr lang="en-US" sz="1500" dirty="0"/>
          </a:p>
        </p:txBody>
      </p:sp>
      <p:sp>
        <p:nvSpPr>
          <p:cNvPr id="6" name="Shape 4"/>
          <p:cNvSpPr/>
          <p:nvPr/>
        </p:nvSpPr>
        <p:spPr>
          <a:xfrm>
            <a:off x="4754880" y="1097280"/>
            <a:ext cx="3931920" cy="3566160"/>
          </a:xfrm>
          <a:prstGeom prst="roundRect">
            <a:avLst>
              <a:gd name="adj" fmla="val 2051"/>
            </a:avLst>
          </a:prstGeom>
          <a:solidFill>
            <a:srgbClr val="10212B"/>
          </a:solidFill>
          <a:ln w="12700">
            <a:solidFill>
              <a:srgbClr val="10212B"/>
            </a:solidFill>
            <a:prstDash val="solid"/>
          </a:ln>
        </p:spPr>
      </p:sp>
      <p:sp>
        <p:nvSpPr>
          <p:cNvPr id="7" name="Text 5"/>
          <p:cNvSpPr txBox="1"/>
          <p:nvPr/>
        </p:nvSpPr>
        <p:spPr>
          <a:xfrm>
            <a:off x="5029200" y="1280160"/>
            <a:ext cx="3474720" cy="365760"/>
          </a:xfrm>
          <a:prstGeom prst="rect">
            <a:avLst/>
          </a:prstGeom>
          <a:noFill/>
          <a:ln/>
        </p:spPr>
        <p:txBody>
          <a:bodyPr wrap="square" lIns="0" tIns="0" rIns="0" bIns="0" rtlCol="0" anchor="ctr"/>
          <a:lstStyle/>
          <a:p>
            <a:pPr indent="0" marL="0">
              <a:buNone/>
            </a:pPr>
            <a:r>
              <a:rPr lang="en-US" sz="1800" b="1" dirty="0">
                <a:solidFill>
                  <a:srgbClr val="F2A541"/>
                </a:solidFill>
                <a:latin typeface="Arial" pitchFamily="34" charset="0"/>
                <a:ea typeface="Arial" pitchFamily="34" charset="-122"/>
                <a:cs typeface="Arial" pitchFamily="34" charset="-120"/>
              </a:rPr>
              <a:t>Out of scope: exact reply</a:t>
            </a:r>
            <a:endParaRPr lang="en-US" sz="1800" dirty="0"/>
          </a:p>
        </p:txBody>
      </p:sp>
      <p:sp>
        <p:nvSpPr>
          <p:cNvPr id="8" name="Text 6"/>
          <p:cNvSpPr txBox="1"/>
          <p:nvPr/>
        </p:nvSpPr>
        <p:spPr>
          <a:xfrm>
            <a:off x="5029200" y="1691640"/>
            <a:ext cx="3474720" cy="457200"/>
          </a:xfrm>
          <a:prstGeom prst="rect">
            <a:avLst/>
          </a:prstGeom>
          <a:noFill/>
          <a:ln/>
        </p:spPr>
        <p:txBody>
          <a:bodyPr wrap="square" lIns="0" tIns="0" rIns="0" bIns="0" rtlCol="0" anchor="ctr"/>
          <a:lstStyle/>
          <a:p>
            <a:pPr indent="0" marL="0">
              <a:buNone/>
            </a:pPr>
            <a:r>
              <a:rPr lang="en-US" sz="1200" i="1" dirty="0">
                <a:solidFill>
                  <a:srgbClr val="BFD3DC"/>
                </a:solidFill>
                <a:latin typeface="Calibri" pitchFamily="34" charset="0"/>
                <a:ea typeface="Calibri" pitchFamily="34" charset="-122"/>
                <a:cs typeface="Calibri" pitchFamily="34" charset="-120"/>
              </a:rPr>
              <a:t>Recipes, sport, poems, homework, weather, medical or financial advice…</a:t>
            </a:r>
            <a:endParaRPr lang="en-US" sz="1200" dirty="0"/>
          </a:p>
        </p:txBody>
      </p:sp>
      <p:sp>
        <p:nvSpPr>
          <p:cNvPr id="9" name="Shape 7"/>
          <p:cNvSpPr/>
          <p:nvPr/>
        </p:nvSpPr>
        <p:spPr>
          <a:xfrm>
            <a:off x="5029200" y="2240280"/>
            <a:ext cx="3383280" cy="2194560"/>
          </a:xfrm>
          <a:prstGeom prst="roundRect">
            <a:avLst>
              <a:gd name="adj" fmla="val 3333"/>
            </a:avLst>
          </a:prstGeom>
          <a:solidFill>
            <a:srgbClr val="183240"/>
          </a:solidFill>
          <a:ln w="12700">
            <a:solidFill>
              <a:srgbClr val="183240"/>
            </a:solidFill>
            <a:prstDash val="solid"/>
          </a:ln>
        </p:spPr>
      </p:sp>
      <p:sp>
        <p:nvSpPr>
          <p:cNvPr id="10" name="Text 8"/>
          <p:cNvSpPr txBox="1"/>
          <p:nvPr/>
        </p:nvSpPr>
        <p:spPr>
          <a:xfrm>
            <a:off x="5166360" y="2331720"/>
            <a:ext cx="3108960" cy="2011680"/>
          </a:xfrm>
          <a:prstGeom prst="rect">
            <a:avLst/>
          </a:prstGeom>
          <a:noFill/>
          <a:ln/>
        </p:spPr>
        <p:txBody>
          <a:bodyPr wrap="square" lIns="0" tIns="0" rIns="0" bIns="0" rtlCol="0" anchor="t"/>
          <a:lstStyle/>
          <a:p>
            <a:pPr indent="0" marL="0">
              <a:buNone/>
            </a:pPr>
            <a:r>
              <a:rPr lang="en-US" sz="1100" dirty="0">
                <a:solidFill>
                  <a:srgbClr val="FFFFFF"/>
                </a:solidFill>
                <a:latin typeface="Courier New" pitchFamily="34" charset="0"/>
                <a:ea typeface="Courier New" pitchFamily="34" charset="-122"/>
                <a:cs typeface="Courier New" pitchFamily="34" charset="-120"/>
              </a:rPr>
              <a:t>I'm designed to help with IT support, software installation, troubleshooting, and software licensing.</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For assistance with other requests, please contact IT Support:</a:t>
            </a:r>
            <a:endParaRPr lang="en-US" sz="1100" dirty="0"/>
          </a:p>
          <a:p>
            <a:pPr indent="0" marL="0">
              <a:buNone/>
            </a:pP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support@example.com</a:t>
            </a:r>
            <a:endParaRPr lang="en-US" sz="1100" dirty="0"/>
          </a:p>
        </p:txBody>
      </p:sp>
      <p:sp>
        <p:nvSpPr>
          <p:cNvPr id="11" name="Text 9"/>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Technology stack</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5F6B7A"/>
                </a:solidFill>
                <a:latin typeface="Calibri" pitchFamily="34" charset="0"/>
                <a:ea typeface="Calibri" pitchFamily="34" charset="-122"/>
                <a:cs typeface="Calibri" pitchFamily="34" charset="-120"/>
              </a:rPr>
              <a:t>Everything runs locally; Docker Compose packages the backend and frontend</a:t>
            </a:r>
            <a:endParaRPr lang="en-US" sz="1400" dirty="0"/>
          </a:p>
        </p:txBody>
      </p:sp>
      <p:sp>
        <p:nvSpPr>
          <p:cNvPr id="4" name="Shape 2"/>
          <p:cNvSpPr/>
          <p:nvPr/>
        </p:nvSpPr>
        <p:spPr>
          <a:xfrm>
            <a:off x="457200" y="1371600"/>
            <a:ext cx="2606040" cy="1508760"/>
          </a:xfrm>
          <a:prstGeom prst="roundRect">
            <a:avLst>
              <a:gd name="adj" fmla="val 4848"/>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40080" y="1554480"/>
            <a:ext cx="457200" cy="457200"/>
          </a:xfrm>
          <a:prstGeom prst="roundRect">
            <a:avLst>
              <a:gd name="adj" fmla="val 20000"/>
            </a:avLst>
          </a:prstGeom>
          <a:solidFill>
            <a:srgbClr val="14897C"/>
          </a:solidFill>
          <a:ln w="12700">
            <a:solidFill>
              <a:srgbClr val="14897C"/>
            </a:solidFill>
            <a:prstDash val="solid"/>
          </a:ln>
        </p:spPr>
      </p:sp>
      <p:pic>
        <p:nvPicPr>
          <p:cNvPr id="6" name="Image 0" descr="preencoded.png">    </p:cNvPr>
          <p:cNvPicPr>
            <a:picLocks noChangeAspect="1"/>
          </p:cNvPicPr>
          <p:nvPr/>
        </p:nvPicPr>
        <p:blipFill>
          <a:blip r:embed="rId1"/>
          <a:stretch>
            <a:fillRect/>
          </a:stretch>
        </p:blipFill>
        <p:spPr>
          <a:xfrm>
            <a:off x="749808" y="1664208"/>
            <a:ext cx="237744" cy="237744"/>
          </a:xfrm>
          <a:prstGeom prst="rect">
            <a:avLst/>
          </a:prstGeom>
        </p:spPr>
      </p:pic>
      <p:sp>
        <p:nvSpPr>
          <p:cNvPr id="7" name="Text 4"/>
          <p:cNvSpPr txBox="1"/>
          <p:nvPr/>
        </p:nvSpPr>
        <p:spPr>
          <a:xfrm>
            <a:off x="1234440" y="1600200"/>
            <a:ext cx="1737360" cy="365760"/>
          </a:xfrm>
          <a:prstGeom prst="rect">
            <a:avLst/>
          </a:prstGeom>
          <a:noFill/>
          <a:ln/>
        </p:spPr>
        <p:txBody>
          <a:bodyPr wrap="square" lIns="0" tIns="0" rIns="0" bIns="0" rtlCol="0" anchor="ctr"/>
          <a:lstStyle/>
          <a:p>
            <a:pPr indent="0" marL="0">
              <a:buNone/>
            </a:pPr>
            <a:r>
              <a:rPr lang="en-US" sz="1100" b="1" spc="100" kern="0" dirty="0">
                <a:solidFill>
                  <a:srgbClr val="14897C"/>
                </a:solidFill>
                <a:latin typeface="Calibri" pitchFamily="34" charset="0"/>
                <a:ea typeface="Calibri" pitchFamily="34" charset="-122"/>
                <a:cs typeface="Calibri" pitchFamily="34" charset="-120"/>
              </a:rPr>
              <a:t>LLM</a:t>
            </a:r>
            <a:endParaRPr lang="en-US" sz="1100" dirty="0"/>
          </a:p>
        </p:txBody>
      </p:sp>
      <p:sp>
        <p:nvSpPr>
          <p:cNvPr id="8" name="Text 5"/>
          <p:cNvSpPr txBox="1"/>
          <p:nvPr/>
        </p:nvSpPr>
        <p:spPr>
          <a:xfrm>
            <a:off x="640080" y="2121408"/>
            <a:ext cx="2286000" cy="32004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Ollama · gemma2:2b</a:t>
            </a:r>
            <a:endParaRPr lang="en-US" sz="1300" dirty="0"/>
          </a:p>
        </p:txBody>
      </p:sp>
      <p:sp>
        <p:nvSpPr>
          <p:cNvPr id="9" name="Text 6"/>
          <p:cNvSpPr txBox="1"/>
          <p:nvPr/>
        </p:nvSpPr>
        <p:spPr>
          <a:xfrm>
            <a:off x="640080" y="2423160"/>
            <a:ext cx="2286000" cy="32004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Temperature 0.2 for consistent answers</a:t>
            </a:r>
            <a:endParaRPr lang="en-US" sz="1100" dirty="0"/>
          </a:p>
        </p:txBody>
      </p:sp>
      <p:sp>
        <p:nvSpPr>
          <p:cNvPr id="10" name="Shape 7"/>
          <p:cNvSpPr/>
          <p:nvPr/>
        </p:nvSpPr>
        <p:spPr>
          <a:xfrm>
            <a:off x="3246120" y="1371600"/>
            <a:ext cx="2606040" cy="1508760"/>
          </a:xfrm>
          <a:prstGeom prst="roundRect">
            <a:avLst>
              <a:gd name="adj" fmla="val 4848"/>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3429000" y="1554480"/>
            <a:ext cx="457200" cy="457200"/>
          </a:xfrm>
          <a:prstGeom prst="roundRect">
            <a:avLst>
              <a:gd name="adj" fmla="val 20000"/>
            </a:avLst>
          </a:prstGeom>
          <a:solidFill>
            <a:srgbClr val="14897C"/>
          </a:solidFill>
          <a:ln w="12700">
            <a:solidFill>
              <a:srgbClr val="14897C"/>
            </a:solidFill>
            <a:prstDash val="solid"/>
          </a:ln>
        </p:spPr>
      </p:sp>
      <p:pic>
        <p:nvPicPr>
          <p:cNvPr id="12" name="Image 1" descr="preencoded.png">    </p:cNvPr>
          <p:cNvPicPr>
            <a:picLocks noChangeAspect="1"/>
          </p:cNvPicPr>
          <p:nvPr/>
        </p:nvPicPr>
        <p:blipFill>
          <a:blip r:embed="rId2"/>
          <a:stretch>
            <a:fillRect/>
          </a:stretch>
        </p:blipFill>
        <p:spPr>
          <a:xfrm>
            <a:off x="3538728" y="1664208"/>
            <a:ext cx="237744" cy="237744"/>
          </a:xfrm>
          <a:prstGeom prst="rect">
            <a:avLst/>
          </a:prstGeom>
        </p:spPr>
      </p:pic>
      <p:sp>
        <p:nvSpPr>
          <p:cNvPr id="13" name="Text 9"/>
          <p:cNvSpPr txBox="1"/>
          <p:nvPr/>
        </p:nvSpPr>
        <p:spPr>
          <a:xfrm>
            <a:off x="4023360" y="1600200"/>
            <a:ext cx="1737360" cy="365760"/>
          </a:xfrm>
          <a:prstGeom prst="rect">
            <a:avLst/>
          </a:prstGeom>
          <a:noFill/>
          <a:ln/>
        </p:spPr>
        <p:txBody>
          <a:bodyPr wrap="square" lIns="0" tIns="0" rIns="0" bIns="0" rtlCol="0" anchor="ctr"/>
          <a:lstStyle/>
          <a:p>
            <a:pPr indent="0" marL="0">
              <a:buNone/>
            </a:pPr>
            <a:r>
              <a:rPr lang="en-US" sz="1100" b="1" spc="100" kern="0" dirty="0">
                <a:solidFill>
                  <a:srgbClr val="14897C"/>
                </a:solidFill>
                <a:latin typeface="Calibri" pitchFamily="34" charset="0"/>
                <a:ea typeface="Calibri" pitchFamily="34" charset="-122"/>
                <a:cs typeface="Calibri" pitchFamily="34" charset="-120"/>
              </a:rPr>
              <a:t>EMBEDDINGS</a:t>
            </a:r>
            <a:endParaRPr lang="en-US" sz="1100" dirty="0"/>
          </a:p>
        </p:txBody>
      </p:sp>
      <p:sp>
        <p:nvSpPr>
          <p:cNvPr id="14" name="Text 10"/>
          <p:cNvSpPr txBox="1"/>
          <p:nvPr/>
        </p:nvSpPr>
        <p:spPr>
          <a:xfrm>
            <a:off x="3429000" y="2121408"/>
            <a:ext cx="2286000" cy="32004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Ollama · nomic-embed-text</a:t>
            </a:r>
            <a:endParaRPr lang="en-US" sz="1300" dirty="0"/>
          </a:p>
        </p:txBody>
      </p:sp>
      <p:sp>
        <p:nvSpPr>
          <p:cNvPr id="15" name="Text 11"/>
          <p:cNvSpPr txBox="1"/>
          <p:nvPr/>
        </p:nvSpPr>
        <p:spPr>
          <a:xfrm>
            <a:off x="3429000" y="2423160"/>
            <a:ext cx="2286000" cy="32004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No PyTorch needed; one model server</a:t>
            </a:r>
            <a:endParaRPr lang="en-US" sz="1100" dirty="0"/>
          </a:p>
        </p:txBody>
      </p:sp>
      <p:sp>
        <p:nvSpPr>
          <p:cNvPr id="16" name="Shape 12"/>
          <p:cNvSpPr/>
          <p:nvPr/>
        </p:nvSpPr>
        <p:spPr>
          <a:xfrm>
            <a:off x="6035040" y="1371600"/>
            <a:ext cx="2606040" cy="1508760"/>
          </a:xfrm>
          <a:prstGeom prst="roundRect">
            <a:avLst>
              <a:gd name="adj" fmla="val 4848"/>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6217920" y="1554480"/>
            <a:ext cx="457200" cy="457200"/>
          </a:xfrm>
          <a:prstGeom prst="roundRect">
            <a:avLst>
              <a:gd name="adj" fmla="val 20000"/>
            </a:avLst>
          </a:prstGeom>
          <a:solidFill>
            <a:srgbClr val="14897C"/>
          </a:solidFill>
          <a:ln w="12700">
            <a:solidFill>
              <a:srgbClr val="14897C"/>
            </a:solidFill>
            <a:prstDash val="solid"/>
          </a:ln>
        </p:spPr>
      </p:sp>
      <p:pic>
        <p:nvPicPr>
          <p:cNvPr id="18" name="Image 2" descr="preencoded.png">    </p:cNvPr>
          <p:cNvPicPr>
            <a:picLocks noChangeAspect="1"/>
          </p:cNvPicPr>
          <p:nvPr/>
        </p:nvPicPr>
        <p:blipFill>
          <a:blip r:embed="rId3"/>
          <a:stretch>
            <a:fillRect/>
          </a:stretch>
        </p:blipFill>
        <p:spPr>
          <a:xfrm>
            <a:off x="6327648" y="1664208"/>
            <a:ext cx="237744" cy="237744"/>
          </a:xfrm>
          <a:prstGeom prst="rect">
            <a:avLst/>
          </a:prstGeom>
        </p:spPr>
      </p:pic>
      <p:sp>
        <p:nvSpPr>
          <p:cNvPr id="19" name="Text 14"/>
          <p:cNvSpPr txBox="1"/>
          <p:nvPr/>
        </p:nvSpPr>
        <p:spPr>
          <a:xfrm>
            <a:off x="6812280" y="1600200"/>
            <a:ext cx="1737360" cy="365760"/>
          </a:xfrm>
          <a:prstGeom prst="rect">
            <a:avLst/>
          </a:prstGeom>
          <a:noFill/>
          <a:ln/>
        </p:spPr>
        <p:txBody>
          <a:bodyPr wrap="square" lIns="0" tIns="0" rIns="0" bIns="0" rtlCol="0" anchor="ctr"/>
          <a:lstStyle/>
          <a:p>
            <a:pPr indent="0" marL="0">
              <a:buNone/>
            </a:pPr>
            <a:r>
              <a:rPr lang="en-US" sz="1100" b="1" spc="100" kern="0" dirty="0">
                <a:solidFill>
                  <a:srgbClr val="14897C"/>
                </a:solidFill>
                <a:latin typeface="Calibri" pitchFamily="34" charset="0"/>
                <a:ea typeface="Calibri" pitchFamily="34" charset="-122"/>
                <a:cs typeface="Calibri" pitchFamily="34" charset="-120"/>
              </a:rPr>
              <a:t>VECTOR STORE</a:t>
            </a:r>
            <a:endParaRPr lang="en-US" sz="1100" dirty="0"/>
          </a:p>
        </p:txBody>
      </p:sp>
      <p:sp>
        <p:nvSpPr>
          <p:cNvPr id="20" name="Text 15"/>
          <p:cNvSpPr txBox="1"/>
          <p:nvPr/>
        </p:nvSpPr>
        <p:spPr>
          <a:xfrm>
            <a:off x="6217920" y="2121408"/>
            <a:ext cx="2286000" cy="32004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ChromaDB (persistent)</a:t>
            </a:r>
            <a:endParaRPr lang="en-US" sz="1300" dirty="0"/>
          </a:p>
        </p:txBody>
      </p:sp>
      <p:sp>
        <p:nvSpPr>
          <p:cNvPr id="21" name="Text 16"/>
          <p:cNvSpPr txBox="1"/>
          <p:nvPr/>
        </p:nvSpPr>
        <p:spPr>
          <a:xfrm>
            <a:off x="6217920" y="2423160"/>
            <a:ext cx="2286000" cy="32004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Cosine similarity, stored on disk</a:t>
            </a:r>
            <a:endParaRPr lang="en-US" sz="1100" dirty="0"/>
          </a:p>
        </p:txBody>
      </p:sp>
      <p:sp>
        <p:nvSpPr>
          <p:cNvPr id="22" name="Shape 17"/>
          <p:cNvSpPr/>
          <p:nvPr/>
        </p:nvSpPr>
        <p:spPr>
          <a:xfrm>
            <a:off x="457200" y="3063240"/>
            <a:ext cx="2606040" cy="1508760"/>
          </a:xfrm>
          <a:prstGeom prst="roundRect">
            <a:avLst>
              <a:gd name="adj" fmla="val 4848"/>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640080" y="3246120"/>
            <a:ext cx="457200" cy="457200"/>
          </a:xfrm>
          <a:prstGeom prst="roundRect">
            <a:avLst>
              <a:gd name="adj" fmla="val 20000"/>
            </a:avLst>
          </a:prstGeom>
          <a:solidFill>
            <a:srgbClr val="14897C"/>
          </a:solidFill>
          <a:ln w="12700">
            <a:solidFill>
              <a:srgbClr val="14897C"/>
            </a:solidFill>
            <a:prstDash val="solid"/>
          </a:ln>
        </p:spPr>
      </p:sp>
      <p:pic>
        <p:nvPicPr>
          <p:cNvPr id="24" name="Image 3" descr="preencoded.png">    </p:cNvPr>
          <p:cNvPicPr>
            <a:picLocks noChangeAspect="1"/>
          </p:cNvPicPr>
          <p:nvPr/>
        </p:nvPicPr>
        <p:blipFill>
          <a:blip r:embed="rId4"/>
          <a:stretch>
            <a:fillRect/>
          </a:stretch>
        </p:blipFill>
        <p:spPr>
          <a:xfrm>
            <a:off x="749808" y="3355848"/>
            <a:ext cx="237744" cy="237744"/>
          </a:xfrm>
          <a:prstGeom prst="rect">
            <a:avLst/>
          </a:prstGeom>
        </p:spPr>
      </p:pic>
      <p:sp>
        <p:nvSpPr>
          <p:cNvPr id="25" name="Text 19"/>
          <p:cNvSpPr txBox="1"/>
          <p:nvPr/>
        </p:nvSpPr>
        <p:spPr>
          <a:xfrm>
            <a:off x="1234440" y="3291840"/>
            <a:ext cx="1737360" cy="365760"/>
          </a:xfrm>
          <a:prstGeom prst="rect">
            <a:avLst/>
          </a:prstGeom>
          <a:noFill/>
          <a:ln/>
        </p:spPr>
        <p:txBody>
          <a:bodyPr wrap="square" lIns="0" tIns="0" rIns="0" bIns="0" rtlCol="0" anchor="ctr"/>
          <a:lstStyle/>
          <a:p>
            <a:pPr indent="0" marL="0">
              <a:buNone/>
            </a:pPr>
            <a:r>
              <a:rPr lang="en-US" sz="1100" b="1" spc="100" kern="0" dirty="0">
                <a:solidFill>
                  <a:srgbClr val="14897C"/>
                </a:solidFill>
                <a:latin typeface="Calibri" pitchFamily="34" charset="0"/>
                <a:ea typeface="Calibri" pitchFamily="34" charset="-122"/>
                <a:cs typeface="Calibri" pitchFamily="34" charset="-120"/>
              </a:rPr>
              <a:t>BACKEND</a:t>
            </a:r>
            <a:endParaRPr lang="en-US" sz="1100" dirty="0"/>
          </a:p>
        </p:txBody>
      </p:sp>
      <p:sp>
        <p:nvSpPr>
          <p:cNvPr id="26" name="Text 20"/>
          <p:cNvSpPr txBox="1"/>
          <p:nvPr/>
        </p:nvSpPr>
        <p:spPr>
          <a:xfrm>
            <a:off x="640080" y="3813048"/>
            <a:ext cx="2286000" cy="32004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Python · FastAPI · uvicorn</a:t>
            </a:r>
            <a:endParaRPr lang="en-US" sz="1300" dirty="0"/>
          </a:p>
        </p:txBody>
      </p:sp>
      <p:sp>
        <p:nvSpPr>
          <p:cNvPr id="27" name="Text 21"/>
          <p:cNvSpPr txBox="1"/>
          <p:nvPr/>
        </p:nvSpPr>
        <p:spPr>
          <a:xfrm>
            <a:off x="640080" y="4114800"/>
            <a:ext cx="2286000" cy="32004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httpx, pydantic-settings</a:t>
            </a:r>
            <a:endParaRPr lang="en-US" sz="1100" dirty="0"/>
          </a:p>
        </p:txBody>
      </p:sp>
      <p:sp>
        <p:nvSpPr>
          <p:cNvPr id="28" name="Shape 22"/>
          <p:cNvSpPr/>
          <p:nvPr/>
        </p:nvSpPr>
        <p:spPr>
          <a:xfrm>
            <a:off x="3246120" y="3063240"/>
            <a:ext cx="2606040" cy="1508760"/>
          </a:xfrm>
          <a:prstGeom prst="roundRect">
            <a:avLst>
              <a:gd name="adj" fmla="val 4848"/>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29" name="Shape 23"/>
          <p:cNvSpPr/>
          <p:nvPr/>
        </p:nvSpPr>
        <p:spPr>
          <a:xfrm>
            <a:off x="3429000" y="3246120"/>
            <a:ext cx="457200" cy="457200"/>
          </a:xfrm>
          <a:prstGeom prst="roundRect">
            <a:avLst>
              <a:gd name="adj" fmla="val 20000"/>
            </a:avLst>
          </a:prstGeom>
          <a:solidFill>
            <a:srgbClr val="14897C"/>
          </a:solidFill>
          <a:ln w="12700">
            <a:solidFill>
              <a:srgbClr val="14897C"/>
            </a:solidFill>
            <a:prstDash val="solid"/>
          </a:ln>
        </p:spPr>
      </p:sp>
      <p:pic>
        <p:nvPicPr>
          <p:cNvPr id="30" name="Image 4" descr="preencoded.png">    </p:cNvPr>
          <p:cNvPicPr>
            <a:picLocks noChangeAspect="1"/>
          </p:cNvPicPr>
          <p:nvPr/>
        </p:nvPicPr>
        <p:blipFill>
          <a:blip r:embed="rId5"/>
          <a:stretch>
            <a:fillRect/>
          </a:stretch>
        </p:blipFill>
        <p:spPr>
          <a:xfrm>
            <a:off x="3538728" y="3355848"/>
            <a:ext cx="237744" cy="237744"/>
          </a:xfrm>
          <a:prstGeom prst="rect">
            <a:avLst/>
          </a:prstGeom>
        </p:spPr>
      </p:pic>
      <p:sp>
        <p:nvSpPr>
          <p:cNvPr id="31" name="Text 24"/>
          <p:cNvSpPr txBox="1"/>
          <p:nvPr/>
        </p:nvSpPr>
        <p:spPr>
          <a:xfrm>
            <a:off x="4023360" y="3291840"/>
            <a:ext cx="1737360" cy="365760"/>
          </a:xfrm>
          <a:prstGeom prst="rect">
            <a:avLst/>
          </a:prstGeom>
          <a:noFill/>
          <a:ln/>
        </p:spPr>
        <p:txBody>
          <a:bodyPr wrap="square" lIns="0" tIns="0" rIns="0" bIns="0" rtlCol="0" anchor="ctr"/>
          <a:lstStyle/>
          <a:p>
            <a:pPr indent="0" marL="0">
              <a:buNone/>
            </a:pPr>
            <a:r>
              <a:rPr lang="en-US" sz="1100" b="1" spc="100" kern="0" dirty="0">
                <a:solidFill>
                  <a:srgbClr val="14897C"/>
                </a:solidFill>
                <a:latin typeface="Calibri" pitchFamily="34" charset="0"/>
                <a:ea typeface="Calibri" pitchFamily="34" charset="-122"/>
                <a:cs typeface="Calibri" pitchFamily="34" charset="-120"/>
              </a:rPr>
              <a:t>FRONTEND</a:t>
            </a:r>
            <a:endParaRPr lang="en-US" sz="1100" dirty="0"/>
          </a:p>
        </p:txBody>
      </p:sp>
      <p:sp>
        <p:nvSpPr>
          <p:cNvPr id="32" name="Text 25"/>
          <p:cNvSpPr txBox="1"/>
          <p:nvPr/>
        </p:nvSpPr>
        <p:spPr>
          <a:xfrm>
            <a:off x="3429000" y="3813048"/>
            <a:ext cx="2286000" cy="32004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Next.js 16 · React 19</a:t>
            </a:r>
            <a:endParaRPr lang="en-US" sz="1300" dirty="0"/>
          </a:p>
        </p:txBody>
      </p:sp>
      <p:sp>
        <p:nvSpPr>
          <p:cNvPr id="33" name="Text 26"/>
          <p:cNvSpPr txBox="1"/>
          <p:nvPr/>
        </p:nvSpPr>
        <p:spPr>
          <a:xfrm>
            <a:off x="3429000" y="4114800"/>
            <a:ext cx="2286000" cy="32004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App Router, plain CSS</a:t>
            </a:r>
            <a:endParaRPr lang="en-US" sz="1100" dirty="0"/>
          </a:p>
        </p:txBody>
      </p:sp>
      <p:sp>
        <p:nvSpPr>
          <p:cNvPr id="34" name="Shape 27"/>
          <p:cNvSpPr/>
          <p:nvPr/>
        </p:nvSpPr>
        <p:spPr>
          <a:xfrm>
            <a:off x="6035040" y="3063240"/>
            <a:ext cx="2606040" cy="1508760"/>
          </a:xfrm>
          <a:prstGeom prst="roundRect">
            <a:avLst>
              <a:gd name="adj" fmla="val 4848"/>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35" name="Shape 28"/>
          <p:cNvSpPr/>
          <p:nvPr/>
        </p:nvSpPr>
        <p:spPr>
          <a:xfrm>
            <a:off x="6217920" y="3246120"/>
            <a:ext cx="457200" cy="457200"/>
          </a:xfrm>
          <a:prstGeom prst="roundRect">
            <a:avLst>
              <a:gd name="adj" fmla="val 20000"/>
            </a:avLst>
          </a:prstGeom>
          <a:solidFill>
            <a:srgbClr val="14897C"/>
          </a:solidFill>
          <a:ln w="12700">
            <a:solidFill>
              <a:srgbClr val="14897C"/>
            </a:solidFill>
            <a:prstDash val="solid"/>
          </a:ln>
        </p:spPr>
      </p:sp>
      <p:pic>
        <p:nvPicPr>
          <p:cNvPr id="36" name="Image 5" descr="preencoded.png">    </p:cNvPr>
          <p:cNvPicPr>
            <a:picLocks noChangeAspect="1"/>
          </p:cNvPicPr>
          <p:nvPr/>
        </p:nvPicPr>
        <p:blipFill>
          <a:blip r:embed="rId6"/>
          <a:stretch>
            <a:fillRect/>
          </a:stretch>
        </p:blipFill>
        <p:spPr>
          <a:xfrm>
            <a:off x="6327648" y="3355848"/>
            <a:ext cx="237744" cy="237744"/>
          </a:xfrm>
          <a:prstGeom prst="rect">
            <a:avLst/>
          </a:prstGeom>
        </p:spPr>
      </p:pic>
      <p:sp>
        <p:nvSpPr>
          <p:cNvPr id="37" name="Text 29"/>
          <p:cNvSpPr txBox="1"/>
          <p:nvPr/>
        </p:nvSpPr>
        <p:spPr>
          <a:xfrm>
            <a:off x="6812280" y="3291840"/>
            <a:ext cx="1737360" cy="365760"/>
          </a:xfrm>
          <a:prstGeom prst="rect">
            <a:avLst/>
          </a:prstGeom>
          <a:noFill/>
          <a:ln/>
        </p:spPr>
        <p:txBody>
          <a:bodyPr wrap="square" lIns="0" tIns="0" rIns="0" bIns="0" rtlCol="0" anchor="ctr"/>
          <a:lstStyle/>
          <a:p>
            <a:pPr indent="0" marL="0">
              <a:buNone/>
            </a:pPr>
            <a:r>
              <a:rPr lang="en-US" sz="1100" b="1" spc="100" kern="0" dirty="0">
                <a:solidFill>
                  <a:srgbClr val="14897C"/>
                </a:solidFill>
                <a:latin typeface="Calibri" pitchFamily="34" charset="0"/>
                <a:ea typeface="Calibri" pitchFamily="34" charset="-122"/>
                <a:cs typeface="Calibri" pitchFamily="34" charset="-120"/>
              </a:rPr>
              <a:t>PACKAGING &amp; TESTS</a:t>
            </a:r>
            <a:endParaRPr lang="en-US" sz="1100" dirty="0"/>
          </a:p>
        </p:txBody>
      </p:sp>
      <p:sp>
        <p:nvSpPr>
          <p:cNvPr id="38" name="Text 30"/>
          <p:cNvSpPr txBox="1"/>
          <p:nvPr/>
        </p:nvSpPr>
        <p:spPr>
          <a:xfrm>
            <a:off x="6217920" y="3813048"/>
            <a:ext cx="2286000" cy="32004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Docker Compose · pytest</a:t>
            </a:r>
            <a:endParaRPr lang="en-US" sz="1300" dirty="0"/>
          </a:p>
        </p:txBody>
      </p:sp>
      <p:sp>
        <p:nvSpPr>
          <p:cNvPr id="39" name="Text 31"/>
          <p:cNvSpPr txBox="1"/>
          <p:nvPr/>
        </p:nvSpPr>
        <p:spPr>
          <a:xfrm>
            <a:off x="6217920" y="4114800"/>
            <a:ext cx="2286000" cy="32004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Ollama stays on the host</a:t>
            </a:r>
            <a:endParaRPr lang="en-US" sz="1100" dirty="0"/>
          </a:p>
        </p:txBody>
      </p:sp>
      <p:sp>
        <p:nvSpPr>
          <p:cNvPr id="40" name="Text 32"/>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System architecture</a:t>
            </a:r>
            <a:endParaRPr lang="en-US" sz="2800" dirty="0"/>
          </a:p>
        </p:txBody>
      </p:sp>
      <p:sp>
        <p:nvSpPr>
          <p:cNvPr id="3" name="Shape 1"/>
          <p:cNvSpPr/>
          <p:nvPr/>
        </p:nvSpPr>
        <p:spPr>
          <a:xfrm>
            <a:off x="457200" y="1737360"/>
            <a:ext cx="1828800" cy="1005840"/>
          </a:xfrm>
          <a:prstGeom prst="roundRect">
            <a:avLst>
              <a:gd name="adj" fmla="val 7273"/>
            </a:avLst>
          </a:prstGeom>
          <a:solidFill>
            <a:srgbClr val="D8F0EC"/>
          </a:solidFill>
          <a:ln w="12700">
            <a:solidFill>
              <a:srgbClr val="D8F0EC"/>
            </a:solidFill>
            <a:prstDash val="solid"/>
          </a:ln>
        </p:spPr>
      </p:sp>
      <p:sp>
        <p:nvSpPr>
          <p:cNvPr id="4" name="Text 2"/>
          <p:cNvSpPr txBox="1"/>
          <p:nvPr/>
        </p:nvSpPr>
        <p:spPr>
          <a:xfrm>
            <a:off x="457200" y="1737360"/>
            <a:ext cx="1828800" cy="1005840"/>
          </a:xfrm>
          <a:prstGeom prst="rect">
            <a:avLst/>
          </a:prstGeom>
          <a:noFill/>
          <a:ln/>
        </p:spPr>
        <p:txBody>
          <a:bodyPr wrap="square" lIns="50800" tIns="50800" rIns="50800" bIns="50800" rtlCol="0" anchor="ctr"/>
          <a:lstStyle/>
          <a:p>
            <a:pPr algn="ctr" indent="0" marL="0">
              <a:buNone/>
            </a:pPr>
            <a:r>
              <a:rPr lang="en-US" sz="1400" b="1" dirty="0">
                <a:solidFill>
                  <a:srgbClr val="1C2430"/>
                </a:solidFill>
                <a:latin typeface="Calibri" pitchFamily="34" charset="0"/>
                <a:ea typeface="Calibri" pitchFamily="34" charset="-122"/>
                <a:cs typeface="Calibri" pitchFamily="34" charset="-120"/>
              </a:rPr>
              <a:t>Browser</a:t>
            </a:r>
            <a:endParaRPr lang="en-US" sz="1400" dirty="0"/>
          </a:p>
          <a:p>
            <a:pPr algn="ctr" indent="0" marL="0">
              <a:buNone/>
            </a:pPr>
            <a:r>
              <a:rPr lang="en-US" sz="1100" dirty="0">
                <a:solidFill>
                  <a:srgbClr val="1C2430"/>
                </a:solidFill>
                <a:latin typeface="Calibri" pitchFamily="34" charset="0"/>
                <a:ea typeface="Calibri" pitchFamily="34" charset="-122"/>
                <a:cs typeface="Calibri" pitchFamily="34" charset="-120"/>
              </a:rPr>
              <a:t>Next.js UI · :3000</a:t>
            </a:r>
            <a:endParaRPr lang="en-US" sz="1400" dirty="0"/>
          </a:p>
        </p:txBody>
      </p:sp>
      <p:sp>
        <p:nvSpPr>
          <p:cNvPr id="5" name="Shape 3"/>
          <p:cNvSpPr/>
          <p:nvPr/>
        </p:nvSpPr>
        <p:spPr>
          <a:xfrm>
            <a:off x="3291840" y="1463040"/>
            <a:ext cx="2194560" cy="1554480"/>
          </a:xfrm>
          <a:prstGeom prst="roundRect">
            <a:avLst>
              <a:gd name="adj" fmla="val 4706"/>
            </a:avLst>
          </a:prstGeom>
          <a:solidFill>
            <a:srgbClr val="10212B"/>
          </a:solidFill>
          <a:ln w="12700">
            <a:solidFill>
              <a:srgbClr val="10212B"/>
            </a:solidFill>
            <a:prstDash val="solid"/>
          </a:ln>
        </p:spPr>
      </p:sp>
      <p:sp>
        <p:nvSpPr>
          <p:cNvPr id="6" name="Text 4"/>
          <p:cNvSpPr txBox="1"/>
          <p:nvPr/>
        </p:nvSpPr>
        <p:spPr>
          <a:xfrm>
            <a:off x="3291840" y="1463040"/>
            <a:ext cx="2194560" cy="1554480"/>
          </a:xfrm>
          <a:prstGeom prst="rect">
            <a:avLst/>
          </a:prstGeom>
          <a:noFill/>
          <a:ln/>
        </p:spPr>
        <p:txBody>
          <a:bodyPr wrap="square" lIns="50800" tIns="50800" rIns="508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FastAPI backend</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router · RAG · prompts</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:8000</a:t>
            </a:r>
            <a:endParaRPr lang="en-US" sz="1400" dirty="0"/>
          </a:p>
        </p:txBody>
      </p:sp>
      <p:sp>
        <p:nvSpPr>
          <p:cNvPr id="7" name="Shape 5"/>
          <p:cNvSpPr/>
          <p:nvPr/>
        </p:nvSpPr>
        <p:spPr>
          <a:xfrm>
            <a:off x="6583680" y="1097280"/>
            <a:ext cx="2103120" cy="914400"/>
          </a:xfrm>
          <a:prstGeom prst="roundRect">
            <a:avLst>
              <a:gd name="adj" fmla="val 8000"/>
            </a:avLst>
          </a:prstGeom>
          <a:solidFill>
            <a:srgbClr val="F2A541"/>
          </a:solidFill>
          <a:ln w="12700">
            <a:solidFill>
              <a:srgbClr val="F2A541"/>
            </a:solidFill>
            <a:prstDash val="solid"/>
          </a:ln>
        </p:spPr>
      </p:sp>
      <p:sp>
        <p:nvSpPr>
          <p:cNvPr id="8" name="Text 6"/>
          <p:cNvSpPr txBox="1"/>
          <p:nvPr/>
        </p:nvSpPr>
        <p:spPr>
          <a:xfrm>
            <a:off x="6583680" y="1097280"/>
            <a:ext cx="2103120" cy="914400"/>
          </a:xfrm>
          <a:prstGeom prst="rect">
            <a:avLst/>
          </a:prstGeom>
          <a:noFill/>
          <a:ln/>
        </p:spPr>
        <p:txBody>
          <a:bodyPr wrap="square" lIns="50800" tIns="50800" rIns="50800" bIns="50800" rtlCol="0" anchor="ctr"/>
          <a:lstStyle/>
          <a:p>
            <a:pPr algn="ctr" indent="0" marL="0">
              <a:buNone/>
            </a:pPr>
            <a:r>
              <a:rPr lang="en-US" sz="1400" b="1" dirty="0">
                <a:solidFill>
                  <a:srgbClr val="1C2430"/>
                </a:solidFill>
                <a:latin typeface="Calibri" pitchFamily="34" charset="0"/>
                <a:ea typeface="Calibri" pitchFamily="34" charset="-122"/>
                <a:cs typeface="Calibri" pitchFamily="34" charset="-120"/>
              </a:rPr>
              <a:t>Ollama</a:t>
            </a:r>
            <a:endParaRPr lang="en-US" sz="1400" dirty="0"/>
          </a:p>
          <a:p>
            <a:pPr algn="ctr" indent="0" marL="0">
              <a:buNone/>
            </a:pPr>
            <a:r>
              <a:rPr lang="en-US" sz="1100" dirty="0">
                <a:solidFill>
                  <a:srgbClr val="1C2430"/>
                </a:solidFill>
                <a:latin typeface="Calibri" pitchFamily="34" charset="0"/>
                <a:ea typeface="Calibri" pitchFamily="34" charset="-122"/>
                <a:cs typeface="Calibri" pitchFamily="34" charset="-120"/>
              </a:rPr>
              <a:t>gemma2:2b · :11434</a:t>
            </a:r>
            <a:endParaRPr lang="en-US" sz="1400" dirty="0"/>
          </a:p>
        </p:txBody>
      </p:sp>
      <p:sp>
        <p:nvSpPr>
          <p:cNvPr id="9" name="Shape 7"/>
          <p:cNvSpPr/>
          <p:nvPr/>
        </p:nvSpPr>
        <p:spPr>
          <a:xfrm>
            <a:off x="6583680" y="2377440"/>
            <a:ext cx="2103120" cy="914400"/>
          </a:xfrm>
          <a:prstGeom prst="roundRect">
            <a:avLst>
              <a:gd name="adj" fmla="val 8000"/>
            </a:avLst>
          </a:prstGeom>
          <a:solidFill>
            <a:srgbClr val="14897C"/>
          </a:solidFill>
          <a:ln w="12700">
            <a:solidFill>
              <a:srgbClr val="14897C"/>
            </a:solidFill>
            <a:prstDash val="solid"/>
          </a:ln>
        </p:spPr>
      </p:sp>
      <p:sp>
        <p:nvSpPr>
          <p:cNvPr id="10" name="Text 8"/>
          <p:cNvSpPr txBox="1"/>
          <p:nvPr/>
        </p:nvSpPr>
        <p:spPr>
          <a:xfrm>
            <a:off x="6583680" y="2377440"/>
            <a:ext cx="2103120" cy="914400"/>
          </a:xfrm>
          <a:prstGeom prst="rect">
            <a:avLst/>
          </a:prstGeom>
          <a:noFill/>
          <a:ln/>
        </p:spPr>
        <p:txBody>
          <a:bodyPr wrap="square" lIns="50800" tIns="50800" rIns="508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ChromaDB</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it_knowledge collection</a:t>
            </a:r>
            <a:endParaRPr lang="en-US" sz="1400" dirty="0"/>
          </a:p>
        </p:txBody>
      </p:sp>
      <p:sp>
        <p:nvSpPr>
          <p:cNvPr id="11" name="Shape 9"/>
          <p:cNvSpPr/>
          <p:nvPr/>
        </p:nvSpPr>
        <p:spPr>
          <a:xfrm>
            <a:off x="3291840" y="3611880"/>
            <a:ext cx="2194560" cy="777240"/>
          </a:xfrm>
          <a:prstGeom prst="roundRect">
            <a:avLst>
              <a:gd name="adj" fmla="val 9412"/>
            </a:avLst>
          </a:prstGeom>
          <a:solidFill>
            <a:srgbClr val="F4F7F9"/>
          </a:solidFill>
          <a:ln w="12700">
            <a:solidFill>
              <a:srgbClr val="F4F7F9"/>
            </a:solidFill>
            <a:prstDash val="solid"/>
          </a:ln>
        </p:spPr>
      </p:sp>
      <p:sp>
        <p:nvSpPr>
          <p:cNvPr id="12" name="Text 10"/>
          <p:cNvSpPr txBox="1"/>
          <p:nvPr/>
        </p:nvSpPr>
        <p:spPr>
          <a:xfrm>
            <a:off x="3291840" y="3611880"/>
            <a:ext cx="2194560" cy="777240"/>
          </a:xfrm>
          <a:prstGeom prst="rect">
            <a:avLst/>
          </a:prstGeom>
          <a:noFill/>
          <a:ln/>
        </p:spPr>
        <p:txBody>
          <a:bodyPr wrap="square" lIns="50800" tIns="50800" rIns="50800" bIns="50800" rtlCol="0" anchor="ctr"/>
          <a:lstStyle/>
          <a:p>
            <a:pPr algn="ctr" indent="0" marL="0">
              <a:buNone/>
            </a:pPr>
            <a:r>
              <a:rPr lang="en-US" sz="1400" b="1" dirty="0">
                <a:solidFill>
                  <a:srgbClr val="1C2430"/>
                </a:solidFill>
                <a:latin typeface="Calibri" pitchFamily="34" charset="0"/>
                <a:ea typeface="Calibri" pitchFamily="34" charset="-122"/>
                <a:cs typeface="Calibri" pitchFamily="34" charset="-120"/>
              </a:rPr>
              <a:t>licenses.json</a:t>
            </a:r>
            <a:endParaRPr lang="en-US" sz="1400" dirty="0"/>
          </a:p>
          <a:p>
            <a:pPr algn="ctr" indent="0" marL="0">
              <a:buNone/>
            </a:pPr>
            <a:r>
              <a:rPr lang="en-US" sz="1100" dirty="0">
                <a:solidFill>
                  <a:srgbClr val="1C2430"/>
                </a:solidFill>
                <a:latin typeface="Calibri" pitchFamily="34" charset="0"/>
                <a:ea typeface="Calibri" pitchFamily="34" charset="-122"/>
                <a:cs typeface="Calibri" pitchFamily="34" charset="-120"/>
              </a:rPr>
              <a:t>fictional sample catalog</a:t>
            </a:r>
            <a:endParaRPr lang="en-US" sz="1400" dirty="0"/>
          </a:p>
        </p:txBody>
      </p:sp>
      <p:sp>
        <p:nvSpPr>
          <p:cNvPr id="13" name="Shape 11"/>
          <p:cNvSpPr/>
          <p:nvPr/>
        </p:nvSpPr>
        <p:spPr>
          <a:xfrm>
            <a:off x="6583680" y="3611880"/>
            <a:ext cx="2103120" cy="777240"/>
          </a:xfrm>
          <a:prstGeom prst="roundRect">
            <a:avLst>
              <a:gd name="adj" fmla="val 9412"/>
            </a:avLst>
          </a:prstGeom>
          <a:solidFill>
            <a:srgbClr val="F4F7F9"/>
          </a:solidFill>
          <a:ln w="12700">
            <a:solidFill>
              <a:srgbClr val="F4F7F9"/>
            </a:solidFill>
            <a:prstDash val="solid"/>
          </a:ln>
        </p:spPr>
      </p:sp>
      <p:sp>
        <p:nvSpPr>
          <p:cNvPr id="14" name="Text 12"/>
          <p:cNvSpPr txBox="1"/>
          <p:nvPr/>
        </p:nvSpPr>
        <p:spPr>
          <a:xfrm>
            <a:off x="6583680" y="3611880"/>
            <a:ext cx="2103120" cy="777240"/>
          </a:xfrm>
          <a:prstGeom prst="rect">
            <a:avLst/>
          </a:prstGeom>
          <a:noFill/>
          <a:ln/>
        </p:spPr>
        <p:txBody>
          <a:bodyPr wrap="square" lIns="50800" tIns="50800" rIns="50800" bIns="50800" rtlCol="0" anchor="ctr"/>
          <a:lstStyle/>
          <a:p>
            <a:pPr algn="ctr" indent="0" marL="0">
              <a:buNone/>
            </a:pPr>
            <a:r>
              <a:rPr lang="en-US" sz="1400" b="1" dirty="0">
                <a:solidFill>
                  <a:srgbClr val="1C2430"/>
                </a:solidFill>
                <a:latin typeface="Calibri" pitchFamily="34" charset="0"/>
                <a:ea typeface="Calibri" pitchFamily="34" charset="-122"/>
                <a:cs typeface="Calibri" pitchFamily="34" charset="-120"/>
              </a:rPr>
              <a:t>Knowledge base</a:t>
            </a:r>
            <a:endParaRPr lang="en-US" sz="1400" dirty="0"/>
          </a:p>
          <a:p>
            <a:pPr algn="ctr" indent="0" marL="0">
              <a:buNone/>
            </a:pPr>
            <a:r>
              <a:rPr lang="en-US" sz="1100" dirty="0">
                <a:solidFill>
                  <a:srgbClr val="1C2430"/>
                </a:solidFill>
                <a:latin typeface="Calibri" pitchFamily="34" charset="0"/>
                <a:ea typeface="Calibri" pitchFamily="34" charset="-122"/>
                <a:cs typeface="Calibri" pitchFamily="34" charset="-120"/>
              </a:rPr>
              <a:t>14 Markdown articles</a:t>
            </a:r>
            <a:endParaRPr lang="en-US" sz="1400" dirty="0"/>
          </a:p>
        </p:txBody>
      </p:sp>
      <p:sp>
        <p:nvSpPr>
          <p:cNvPr id="15" name="Shape 13"/>
          <p:cNvSpPr/>
          <p:nvPr/>
        </p:nvSpPr>
        <p:spPr>
          <a:xfrm>
            <a:off x="2286000" y="2240280"/>
            <a:ext cx="1005840" cy="0"/>
          </a:xfrm>
          <a:prstGeom prst="line">
            <a:avLst/>
          </a:prstGeom>
          <a:noFill/>
          <a:ln w="19050">
            <a:solidFill>
              <a:srgbClr val="5F6B7A"/>
            </a:solidFill>
            <a:prstDash val="solid"/>
            <a:tailEnd type="triangle"/>
          </a:ln>
        </p:spPr>
      </p:sp>
      <p:sp>
        <p:nvSpPr>
          <p:cNvPr id="16" name="Text 14"/>
          <p:cNvSpPr txBox="1"/>
          <p:nvPr/>
        </p:nvSpPr>
        <p:spPr>
          <a:xfrm>
            <a:off x="2286000" y="1920240"/>
            <a:ext cx="1005840" cy="274320"/>
          </a:xfrm>
          <a:prstGeom prst="rect">
            <a:avLst/>
          </a:prstGeom>
          <a:noFill/>
          <a:ln/>
        </p:spPr>
        <p:txBody>
          <a:bodyPr wrap="square" lIns="0" tIns="0" rIns="0" bIns="0" rtlCol="0" anchor="ctr"/>
          <a:lstStyle/>
          <a:p>
            <a:pPr algn="ctr" indent="0" marL="0">
              <a:buNone/>
            </a:pPr>
            <a:r>
              <a:rPr lang="en-US" sz="1000" dirty="0">
                <a:solidFill>
                  <a:srgbClr val="5F6B7A"/>
                </a:solidFill>
                <a:latin typeface="Calibri" pitchFamily="34" charset="0"/>
                <a:ea typeface="Calibri" pitchFamily="34" charset="-122"/>
                <a:cs typeface="Calibri" pitchFamily="34" charset="-120"/>
              </a:rPr>
              <a:t>POST /api/chat</a:t>
            </a:r>
            <a:endParaRPr lang="en-US" sz="1000" dirty="0"/>
          </a:p>
        </p:txBody>
      </p:sp>
      <p:sp>
        <p:nvSpPr>
          <p:cNvPr id="17" name="Shape 15"/>
          <p:cNvSpPr/>
          <p:nvPr/>
        </p:nvSpPr>
        <p:spPr>
          <a:xfrm flipV="1">
            <a:off x="5486400" y="1554480"/>
            <a:ext cx="1097280" cy="365760"/>
          </a:xfrm>
          <a:prstGeom prst="line">
            <a:avLst/>
          </a:prstGeom>
          <a:noFill/>
          <a:ln w="19050">
            <a:solidFill>
              <a:srgbClr val="5F6B7A"/>
            </a:solidFill>
            <a:prstDash val="solid"/>
            <a:tailEnd type="triangle"/>
          </a:ln>
        </p:spPr>
      </p:sp>
      <p:sp>
        <p:nvSpPr>
          <p:cNvPr id="18" name="Text 16"/>
          <p:cNvSpPr txBox="1"/>
          <p:nvPr/>
        </p:nvSpPr>
        <p:spPr>
          <a:xfrm>
            <a:off x="5486400" y="1417320"/>
            <a:ext cx="1097280" cy="274320"/>
          </a:xfrm>
          <a:prstGeom prst="rect">
            <a:avLst/>
          </a:prstGeom>
          <a:noFill/>
          <a:ln/>
        </p:spPr>
        <p:txBody>
          <a:bodyPr wrap="square" lIns="0" tIns="0" rIns="0" bIns="0" rtlCol="0" anchor="ctr"/>
          <a:lstStyle/>
          <a:p>
            <a:pPr algn="ctr" indent="0" marL="0">
              <a:buNone/>
            </a:pPr>
            <a:r>
              <a:rPr lang="en-US" sz="1000" dirty="0">
                <a:solidFill>
                  <a:srgbClr val="5F6B7A"/>
                </a:solidFill>
                <a:latin typeface="Calibri" pitchFamily="34" charset="0"/>
                <a:ea typeface="Calibri" pitchFamily="34" charset="-122"/>
                <a:cs typeface="Calibri" pitchFamily="34" charset="-120"/>
              </a:rPr>
              <a:t>chat + embed</a:t>
            </a:r>
            <a:endParaRPr lang="en-US" sz="1000" dirty="0"/>
          </a:p>
        </p:txBody>
      </p:sp>
      <p:sp>
        <p:nvSpPr>
          <p:cNvPr id="19" name="Shape 17"/>
          <p:cNvSpPr/>
          <p:nvPr/>
        </p:nvSpPr>
        <p:spPr>
          <a:xfrm>
            <a:off x="5486400" y="2560320"/>
            <a:ext cx="1097280" cy="274320"/>
          </a:xfrm>
          <a:prstGeom prst="line">
            <a:avLst/>
          </a:prstGeom>
          <a:noFill/>
          <a:ln w="19050">
            <a:solidFill>
              <a:srgbClr val="5F6B7A"/>
            </a:solidFill>
            <a:prstDash val="solid"/>
            <a:tailEnd type="triangle"/>
          </a:ln>
        </p:spPr>
      </p:sp>
      <p:sp>
        <p:nvSpPr>
          <p:cNvPr id="20" name="Text 18"/>
          <p:cNvSpPr txBox="1"/>
          <p:nvPr/>
        </p:nvSpPr>
        <p:spPr>
          <a:xfrm>
            <a:off x="5486400" y="2788920"/>
            <a:ext cx="1097280" cy="274320"/>
          </a:xfrm>
          <a:prstGeom prst="rect">
            <a:avLst/>
          </a:prstGeom>
          <a:noFill/>
          <a:ln/>
        </p:spPr>
        <p:txBody>
          <a:bodyPr wrap="square" lIns="0" tIns="0" rIns="0" bIns="0" rtlCol="0" anchor="ctr"/>
          <a:lstStyle/>
          <a:p>
            <a:pPr algn="ctr" indent="0" marL="0">
              <a:buNone/>
            </a:pPr>
            <a:r>
              <a:rPr lang="en-US" sz="1000" dirty="0">
                <a:solidFill>
                  <a:srgbClr val="5F6B7A"/>
                </a:solidFill>
                <a:latin typeface="Calibri" pitchFamily="34" charset="0"/>
                <a:ea typeface="Calibri" pitchFamily="34" charset="-122"/>
                <a:cs typeface="Calibri" pitchFamily="34" charset="-120"/>
              </a:rPr>
              <a:t>top-k search</a:t>
            </a:r>
            <a:endParaRPr lang="en-US" sz="1000" dirty="0"/>
          </a:p>
        </p:txBody>
      </p:sp>
      <p:sp>
        <p:nvSpPr>
          <p:cNvPr id="21" name="Shape 19"/>
          <p:cNvSpPr/>
          <p:nvPr/>
        </p:nvSpPr>
        <p:spPr>
          <a:xfrm>
            <a:off x="4389120" y="3017520"/>
            <a:ext cx="0" cy="594360"/>
          </a:xfrm>
          <a:prstGeom prst="line">
            <a:avLst/>
          </a:prstGeom>
          <a:noFill/>
          <a:ln w="19050">
            <a:solidFill>
              <a:srgbClr val="5F6B7A"/>
            </a:solidFill>
            <a:prstDash val="solid"/>
            <a:tailEnd type="triangle"/>
          </a:ln>
        </p:spPr>
      </p:sp>
      <p:sp>
        <p:nvSpPr>
          <p:cNvPr id="22" name="Shape 20"/>
          <p:cNvSpPr/>
          <p:nvPr/>
        </p:nvSpPr>
        <p:spPr>
          <a:xfrm flipV="1">
            <a:off x="7635240" y="3291840"/>
            <a:ext cx="0" cy="320040"/>
          </a:xfrm>
          <a:prstGeom prst="line">
            <a:avLst/>
          </a:prstGeom>
          <a:noFill/>
          <a:ln w="19050">
            <a:solidFill>
              <a:srgbClr val="5F6B7A"/>
            </a:solidFill>
            <a:prstDash val="solid"/>
            <a:tailEnd type="triangle"/>
          </a:ln>
        </p:spPr>
      </p:sp>
      <p:sp>
        <p:nvSpPr>
          <p:cNvPr id="23" name="Text 21"/>
          <p:cNvSpPr txBox="1"/>
          <p:nvPr/>
        </p:nvSpPr>
        <p:spPr>
          <a:xfrm>
            <a:off x="7726680" y="3310128"/>
            <a:ext cx="1371600" cy="274320"/>
          </a:xfrm>
          <a:prstGeom prst="rect">
            <a:avLst/>
          </a:prstGeom>
          <a:noFill/>
          <a:ln/>
        </p:spPr>
        <p:txBody>
          <a:bodyPr wrap="square" lIns="0" tIns="0" rIns="0" bIns="0" rtlCol="0" anchor="ctr"/>
          <a:lstStyle/>
          <a:p>
            <a:pPr indent="0" marL="0">
              <a:buNone/>
            </a:pPr>
            <a:r>
              <a:rPr lang="en-US" sz="900" i="1" dirty="0">
                <a:solidFill>
                  <a:srgbClr val="5F6B7A"/>
                </a:solidFill>
                <a:latin typeface="Calibri" pitchFamily="34" charset="0"/>
                <a:ea typeface="Calibri" pitchFamily="34" charset="-122"/>
                <a:cs typeface="Calibri" pitchFamily="34" charset="-120"/>
              </a:rPr>
              <a:t>ingest_knowledge.py</a:t>
            </a:r>
            <a:endParaRPr lang="en-US" sz="900" dirty="0"/>
          </a:p>
        </p:txBody>
      </p:sp>
      <p:sp>
        <p:nvSpPr>
          <p:cNvPr id="24" name="Text 22"/>
          <p:cNvSpPr txBox="1"/>
          <p:nvPr/>
        </p:nvSpPr>
        <p:spPr>
          <a:xfrm>
            <a:off x="457200" y="2926080"/>
            <a:ext cx="2560320" cy="548640"/>
          </a:xfrm>
          <a:prstGeom prst="rect">
            <a:avLst/>
          </a:prstGeom>
          <a:noFill/>
          <a:ln/>
        </p:spPr>
        <p:txBody>
          <a:bodyPr wrap="square" lIns="0" tIns="0" rIns="0" bIns="0" rtlCol="0" anchor="ctr"/>
          <a:lstStyle/>
          <a:p>
            <a:pPr indent="0" marL="0">
              <a:buNone/>
            </a:pPr>
            <a:r>
              <a:rPr lang="en-US" sz="1100" i="1" dirty="0">
                <a:solidFill>
                  <a:srgbClr val="5F6B7A"/>
                </a:solidFill>
                <a:latin typeface="Calibri" pitchFamily="34" charset="0"/>
                <a:ea typeface="Calibri" pitchFamily="34" charset="-122"/>
                <a:cs typeface="Calibri" pitchFamily="34" charset="-120"/>
              </a:rPr>
              <a:t>Streamed text/plain response, ending with a [[SOURCES]] JSON trailer</a:t>
            </a:r>
            <a:endParaRPr lang="en-US" sz="1100" dirty="0"/>
          </a:p>
        </p:txBody>
      </p:sp>
      <p:sp>
        <p:nvSpPr>
          <p:cNvPr id="25" name="Text 2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What happens to each message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5F6B7A"/>
                </a:solidFill>
                <a:latin typeface="Calibri" pitchFamily="34" charset="0"/>
                <a:ea typeface="Calibri" pitchFamily="34" charset="-122"/>
                <a:cs typeface="Calibri" pitchFamily="34" charset="-120"/>
              </a:rPr>
              <a:t>POST /api/chat, step by step</a:t>
            </a:r>
            <a:endParaRPr lang="en-US" sz="1400" dirty="0"/>
          </a:p>
        </p:txBody>
      </p:sp>
      <p:sp>
        <p:nvSpPr>
          <p:cNvPr id="4" name="Shape 2"/>
          <p:cNvSpPr/>
          <p:nvPr/>
        </p:nvSpPr>
        <p:spPr>
          <a:xfrm>
            <a:off x="457200" y="1463040"/>
            <a:ext cx="1298448" cy="2377440"/>
          </a:xfrm>
          <a:prstGeom prst="roundRect">
            <a:avLst>
              <a:gd name="adj" fmla="val 5634"/>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877824" y="1645920"/>
            <a:ext cx="457200" cy="457200"/>
          </a:xfrm>
          <a:prstGeom prst="ellipse">
            <a:avLst/>
          </a:prstGeom>
          <a:solidFill>
            <a:srgbClr val="14897C"/>
          </a:solidFill>
          <a:ln w="12700">
            <a:solidFill>
              <a:srgbClr val="14897C"/>
            </a:solidFill>
            <a:prstDash val="solid"/>
          </a:ln>
        </p:spPr>
      </p:sp>
      <p:sp>
        <p:nvSpPr>
          <p:cNvPr id="6" name="Text 4"/>
          <p:cNvSpPr txBox="1"/>
          <p:nvPr/>
        </p:nvSpPr>
        <p:spPr>
          <a:xfrm>
            <a:off x="877824"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530352" y="2240280"/>
            <a:ext cx="1152144" cy="457200"/>
          </a:xfrm>
          <a:prstGeom prst="rect">
            <a:avLst/>
          </a:prstGeom>
          <a:noFill/>
          <a:ln/>
        </p:spPr>
        <p:txBody>
          <a:bodyPr wrap="square" lIns="0" tIns="0" rIns="0" bIns="0" rtlCol="0" anchor="ctr"/>
          <a:lstStyle/>
          <a:p>
            <a:pPr algn="ctr" indent="0" marL="0">
              <a:buNone/>
            </a:pPr>
            <a:r>
              <a:rPr lang="en-US" sz="1200" b="1" dirty="0">
                <a:solidFill>
                  <a:srgbClr val="1C2430"/>
                </a:solidFill>
                <a:latin typeface="Arial" pitchFamily="34" charset="0"/>
                <a:ea typeface="Arial" pitchFamily="34" charset="-122"/>
                <a:cs typeface="Arial" pitchFamily="34" charset="-120"/>
              </a:rPr>
              <a:t>Validate</a:t>
            </a:r>
            <a:endParaRPr lang="en-US" sz="1200" dirty="0"/>
          </a:p>
        </p:txBody>
      </p:sp>
      <p:sp>
        <p:nvSpPr>
          <p:cNvPr id="8" name="Text 6"/>
          <p:cNvSpPr txBox="1"/>
          <p:nvPr/>
        </p:nvSpPr>
        <p:spPr>
          <a:xfrm>
            <a:off x="548640" y="2743200"/>
            <a:ext cx="1115568" cy="1005840"/>
          </a:xfrm>
          <a:prstGeom prst="rect">
            <a:avLst/>
          </a:prstGeom>
          <a:noFill/>
          <a:ln/>
        </p:spPr>
        <p:txBody>
          <a:bodyPr wrap="square" lIns="0" tIns="0" rIns="0" bIns="0" rtlCol="0" anchor="t"/>
          <a:lstStyle/>
          <a:p>
            <a:pPr algn="ctr" indent="0" marL="0">
              <a:buNone/>
            </a:pPr>
            <a:r>
              <a:rPr lang="en-US" sz="1100" dirty="0">
                <a:solidFill>
                  <a:srgbClr val="5F6B7A"/>
                </a:solidFill>
                <a:latin typeface="Calibri" pitchFamily="34" charset="0"/>
                <a:ea typeface="Calibri" pitchFamily="34" charset="-122"/>
                <a:cs typeface="Calibri" pitchFamily="34" charset="-120"/>
              </a:rPr>
              <a:t>Non-empty, ≤ 2000 chars; keep last 10 turns</a:t>
            </a:r>
            <a:endParaRPr lang="en-US" sz="1100" dirty="0"/>
          </a:p>
        </p:txBody>
      </p:sp>
      <p:sp>
        <p:nvSpPr>
          <p:cNvPr id="9" name="Shape 7"/>
          <p:cNvSpPr/>
          <p:nvPr/>
        </p:nvSpPr>
        <p:spPr>
          <a:xfrm>
            <a:off x="1847088" y="1463040"/>
            <a:ext cx="1298448" cy="2377440"/>
          </a:xfrm>
          <a:prstGeom prst="roundRect">
            <a:avLst>
              <a:gd name="adj" fmla="val 5634"/>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2267712" y="1645920"/>
            <a:ext cx="457200" cy="457200"/>
          </a:xfrm>
          <a:prstGeom prst="ellipse">
            <a:avLst/>
          </a:prstGeom>
          <a:solidFill>
            <a:srgbClr val="F2A541"/>
          </a:solidFill>
          <a:ln w="12700">
            <a:solidFill>
              <a:srgbClr val="F2A541"/>
            </a:solidFill>
            <a:prstDash val="solid"/>
          </a:ln>
        </p:spPr>
      </p:sp>
      <p:sp>
        <p:nvSpPr>
          <p:cNvPr id="11" name="Text 9"/>
          <p:cNvSpPr txBox="1"/>
          <p:nvPr/>
        </p:nvSpPr>
        <p:spPr>
          <a:xfrm>
            <a:off x="2267712" y="1645920"/>
            <a:ext cx="457200" cy="457200"/>
          </a:xfrm>
          <a:prstGeom prst="rect">
            <a:avLst/>
          </a:prstGeom>
          <a:noFill/>
          <a:ln/>
        </p:spPr>
        <p:txBody>
          <a:bodyPr wrap="square" lIns="0" tIns="0" rIns="0" bIns="0" rtlCol="0" anchor="ctr"/>
          <a:lstStyle/>
          <a:p>
            <a:pPr algn="ctr" indent="0" marL="0">
              <a:buNone/>
            </a:pPr>
            <a:r>
              <a:rPr lang="en-US" sz="1600" b="1" dirty="0">
                <a:solidFill>
                  <a:srgbClr val="1C2430"/>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1920240" y="2240280"/>
            <a:ext cx="1152144" cy="457200"/>
          </a:xfrm>
          <a:prstGeom prst="rect">
            <a:avLst/>
          </a:prstGeom>
          <a:noFill/>
          <a:ln/>
        </p:spPr>
        <p:txBody>
          <a:bodyPr wrap="square" lIns="0" tIns="0" rIns="0" bIns="0" rtlCol="0" anchor="ctr"/>
          <a:lstStyle/>
          <a:p>
            <a:pPr algn="ctr" indent="0" marL="0">
              <a:buNone/>
            </a:pPr>
            <a:r>
              <a:rPr lang="en-US" sz="1200" b="1" dirty="0">
                <a:solidFill>
                  <a:srgbClr val="1C2430"/>
                </a:solidFill>
                <a:latin typeface="Arial" pitchFamily="34" charset="0"/>
                <a:ea typeface="Arial" pitchFamily="34" charset="-122"/>
                <a:cs typeface="Arial" pitchFamily="34" charset="-120"/>
              </a:rPr>
              <a:t>Route</a:t>
            </a:r>
            <a:endParaRPr lang="en-US" sz="1200" dirty="0"/>
          </a:p>
        </p:txBody>
      </p:sp>
      <p:sp>
        <p:nvSpPr>
          <p:cNvPr id="13" name="Text 11"/>
          <p:cNvSpPr txBox="1"/>
          <p:nvPr/>
        </p:nvSpPr>
        <p:spPr>
          <a:xfrm>
            <a:off x="1938528" y="2743200"/>
            <a:ext cx="1115568" cy="1005840"/>
          </a:xfrm>
          <a:prstGeom prst="rect">
            <a:avLst/>
          </a:prstGeom>
          <a:noFill/>
          <a:ln/>
        </p:spPr>
        <p:txBody>
          <a:bodyPr wrap="square" lIns="0" tIns="0" rIns="0" bIns="0" rtlCol="0" anchor="t"/>
          <a:lstStyle/>
          <a:p>
            <a:pPr algn="ctr" indent="0" marL="0">
              <a:buNone/>
            </a:pPr>
            <a:r>
              <a:rPr lang="en-US" sz="1100" dirty="0">
                <a:solidFill>
                  <a:srgbClr val="5F6B7A"/>
                </a:solidFill>
                <a:latin typeface="Calibri" pitchFamily="34" charset="0"/>
                <a:ea typeface="Calibri" pitchFamily="34" charset="-122"/>
                <a:cs typeface="Calibri" pitchFamily="34" charset="-120"/>
              </a:rPr>
              <a:t>Keyword classifier picks one of four intents</a:t>
            </a:r>
            <a:endParaRPr lang="en-US" sz="1100" dirty="0"/>
          </a:p>
        </p:txBody>
      </p:sp>
      <p:sp>
        <p:nvSpPr>
          <p:cNvPr id="14" name="Shape 12"/>
          <p:cNvSpPr/>
          <p:nvPr/>
        </p:nvSpPr>
        <p:spPr>
          <a:xfrm>
            <a:off x="3236976" y="1463040"/>
            <a:ext cx="1298448" cy="2377440"/>
          </a:xfrm>
          <a:prstGeom prst="roundRect">
            <a:avLst>
              <a:gd name="adj" fmla="val 5634"/>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3657600" y="1645920"/>
            <a:ext cx="457200" cy="457200"/>
          </a:xfrm>
          <a:prstGeom prst="ellipse">
            <a:avLst/>
          </a:prstGeom>
          <a:solidFill>
            <a:srgbClr val="14897C"/>
          </a:solidFill>
          <a:ln w="12700">
            <a:solidFill>
              <a:srgbClr val="14897C"/>
            </a:solidFill>
            <a:prstDash val="solid"/>
          </a:ln>
        </p:spPr>
      </p:sp>
      <p:sp>
        <p:nvSpPr>
          <p:cNvPr id="16" name="Text 14"/>
          <p:cNvSpPr txBox="1"/>
          <p:nvPr/>
        </p:nvSpPr>
        <p:spPr>
          <a:xfrm>
            <a:off x="365760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3310128" y="2240280"/>
            <a:ext cx="1152144" cy="457200"/>
          </a:xfrm>
          <a:prstGeom prst="rect">
            <a:avLst/>
          </a:prstGeom>
          <a:noFill/>
          <a:ln/>
        </p:spPr>
        <p:txBody>
          <a:bodyPr wrap="square" lIns="0" tIns="0" rIns="0" bIns="0" rtlCol="0" anchor="ctr"/>
          <a:lstStyle/>
          <a:p>
            <a:pPr algn="ctr" indent="0" marL="0">
              <a:buNone/>
            </a:pPr>
            <a:r>
              <a:rPr lang="en-US" sz="1200" b="1" dirty="0">
                <a:solidFill>
                  <a:srgbClr val="1C2430"/>
                </a:solidFill>
                <a:latin typeface="Arial" pitchFamily="34" charset="0"/>
                <a:ea typeface="Arial" pitchFamily="34" charset="-122"/>
                <a:cs typeface="Arial" pitchFamily="34" charset="-120"/>
              </a:rPr>
              <a:t>Retrieve</a:t>
            </a:r>
            <a:endParaRPr lang="en-US" sz="1200" dirty="0"/>
          </a:p>
        </p:txBody>
      </p:sp>
      <p:sp>
        <p:nvSpPr>
          <p:cNvPr id="18" name="Text 16"/>
          <p:cNvSpPr txBox="1"/>
          <p:nvPr/>
        </p:nvSpPr>
        <p:spPr>
          <a:xfrm>
            <a:off x="3328416" y="2743200"/>
            <a:ext cx="1115568" cy="1005840"/>
          </a:xfrm>
          <a:prstGeom prst="rect">
            <a:avLst/>
          </a:prstGeom>
          <a:noFill/>
          <a:ln/>
        </p:spPr>
        <p:txBody>
          <a:bodyPr wrap="square" lIns="0" tIns="0" rIns="0" bIns="0" rtlCol="0" anchor="t"/>
          <a:lstStyle/>
          <a:p>
            <a:pPr algn="ctr" indent="0" marL="0">
              <a:buNone/>
            </a:pPr>
            <a:r>
              <a:rPr lang="en-US" sz="1100" dirty="0">
                <a:solidFill>
                  <a:srgbClr val="5F6B7A"/>
                </a:solidFill>
                <a:latin typeface="Calibri" pitchFamily="34" charset="0"/>
                <a:ea typeface="Calibri" pitchFamily="34" charset="-122"/>
                <a:cs typeface="Calibri" pitchFamily="34" charset="-120"/>
              </a:rPr>
              <a:t>Embed query, top 4 chunks, distance ≤ 0.5</a:t>
            </a:r>
            <a:endParaRPr lang="en-US" sz="1100" dirty="0"/>
          </a:p>
        </p:txBody>
      </p:sp>
      <p:sp>
        <p:nvSpPr>
          <p:cNvPr id="19" name="Shape 17"/>
          <p:cNvSpPr/>
          <p:nvPr/>
        </p:nvSpPr>
        <p:spPr>
          <a:xfrm>
            <a:off x="4626864" y="1463040"/>
            <a:ext cx="1298448" cy="2377440"/>
          </a:xfrm>
          <a:prstGeom prst="roundRect">
            <a:avLst>
              <a:gd name="adj" fmla="val 5634"/>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5047488" y="1645920"/>
            <a:ext cx="457200" cy="457200"/>
          </a:xfrm>
          <a:prstGeom prst="ellipse">
            <a:avLst/>
          </a:prstGeom>
          <a:solidFill>
            <a:srgbClr val="14897C"/>
          </a:solidFill>
          <a:ln w="12700">
            <a:solidFill>
              <a:srgbClr val="14897C"/>
            </a:solidFill>
            <a:prstDash val="solid"/>
          </a:ln>
        </p:spPr>
      </p:sp>
      <p:sp>
        <p:nvSpPr>
          <p:cNvPr id="21" name="Text 19"/>
          <p:cNvSpPr txBox="1"/>
          <p:nvPr/>
        </p:nvSpPr>
        <p:spPr>
          <a:xfrm>
            <a:off x="5047488"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4700016" y="2240280"/>
            <a:ext cx="1152144" cy="457200"/>
          </a:xfrm>
          <a:prstGeom prst="rect">
            <a:avLst/>
          </a:prstGeom>
          <a:noFill/>
          <a:ln/>
        </p:spPr>
        <p:txBody>
          <a:bodyPr wrap="square" lIns="0" tIns="0" rIns="0" bIns="0" rtlCol="0" anchor="ctr"/>
          <a:lstStyle/>
          <a:p>
            <a:pPr algn="ctr" indent="0" marL="0">
              <a:buNone/>
            </a:pPr>
            <a:r>
              <a:rPr lang="en-US" sz="1200" b="1" dirty="0">
                <a:solidFill>
                  <a:srgbClr val="1C2430"/>
                </a:solidFill>
                <a:latin typeface="Arial" pitchFamily="34" charset="0"/>
                <a:ea typeface="Arial" pitchFamily="34" charset="-122"/>
                <a:cs typeface="Arial" pitchFamily="34" charset="-120"/>
              </a:rPr>
              <a:t>License lookup</a:t>
            </a:r>
            <a:endParaRPr lang="en-US" sz="1200" dirty="0"/>
          </a:p>
        </p:txBody>
      </p:sp>
      <p:sp>
        <p:nvSpPr>
          <p:cNvPr id="23" name="Text 21"/>
          <p:cNvSpPr txBox="1"/>
          <p:nvPr/>
        </p:nvSpPr>
        <p:spPr>
          <a:xfrm>
            <a:off x="4718304" y="2743200"/>
            <a:ext cx="1115568" cy="1005840"/>
          </a:xfrm>
          <a:prstGeom prst="rect">
            <a:avLst/>
          </a:prstGeom>
          <a:noFill/>
          <a:ln/>
        </p:spPr>
        <p:txBody>
          <a:bodyPr wrap="square" lIns="0" tIns="0" rIns="0" bIns="0" rtlCol="0" anchor="t"/>
          <a:lstStyle/>
          <a:p>
            <a:pPr algn="ctr" indent="0" marL="0">
              <a:buNone/>
            </a:pPr>
            <a:r>
              <a:rPr lang="en-US" sz="1100" dirty="0">
                <a:solidFill>
                  <a:srgbClr val="5F6B7A"/>
                </a:solidFill>
                <a:latin typeface="Calibri" pitchFamily="34" charset="0"/>
                <a:ea typeface="Calibri" pitchFamily="34" charset="-122"/>
                <a:cs typeface="Calibri" pitchFamily="34" charset="-120"/>
              </a:rPr>
              <a:t>Match product names and aliases (license intent only)</a:t>
            </a:r>
            <a:endParaRPr lang="en-US" sz="1100" dirty="0"/>
          </a:p>
        </p:txBody>
      </p:sp>
      <p:sp>
        <p:nvSpPr>
          <p:cNvPr id="24" name="Shape 22"/>
          <p:cNvSpPr/>
          <p:nvPr/>
        </p:nvSpPr>
        <p:spPr>
          <a:xfrm>
            <a:off x="6016752" y="1463040"/>
            <a:ext cx="1298448" cy="2377440"/>
          </a:xfrm>
          <a:prstGeom prst="roundRect">
            <a:avLst>
              <a:gd name="adj" fmla="val 5634"/>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6437376" y="1645920"/>
            <a:ext cx="457200" cy="457200"/>
          </a:xfrm>
          <a:prstGeom prst="ellipse">
            <a:avLst/>
          </a:prstGeom>
          <a:solidFill>
            <a:srgbClr val="14897C"/>
          </a:solidFill>
          <a:ln w="12700">
            <a:solidFill>
              <a:srgbClr val="14897C"/>
            </a:solidFill>
            <a:prstDash val="solid"/>
          </a:ln>
        </p:spPr>
      </p:sp>
      <p:sp>
        <p:nvSpPr>
          <p:cNvPr id="26" name="Text 24"/>
          <p:cNvSpPr txBox="1"/>
          <p:nvPr/>
        </p:nvSpPr>
        <p:spPr>
          <a:xfrm>
            <a:off x="6437376"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5"/>
          <p:cNvSpPr txBox="1"/>
          <p:nvPr/>
        </p:nvSpPr>
        <p:spPr>
          <a:xfrm>
            <a:off x="6089904" y="2240280"/>
            <a:ext cx="1152144" cy="457200"/>
          </a:xfrm>
          <a:prstGeom prst="rect">
            <a:avLst/>
          </a:prstGeom>
          <a:noFill/>
          <a:ln/>
        </p:spPr>
        <p:txBody>
          <a:bodyPr wrap="square" lIns="0" tIns="0" rIns="0" bIns="0" rtlCol="0" anchor="ctr"/>
          <a:lstStyle/>
          <a:p>
            <a:pPr algn="ctr" indent="0" marL="0">
              <a:buNone/>
            </a:pPr>
            <a:r>
              <a:rPr lang="en-US" sz="1200" b="1" dirty="0">
                <a:solidFill>
                  <a:srgbClr val="1C2430"/>
                </a:solidFill>
                <a:latin typeface="Arial" pitchFamily="34" charset="0"/>
                <a:ea typeface="Arial" pitchFamily="34" charset="-122"/>
                <a:cs typeface="Arial" pitchFamily="34" charset="-120"/>
              </a:rPr>
              <a:t>Assemble prompt</a:t>
            </a:r>
            <a:endParaRPr lang="en-US" sz="1200" dirty="0"/>
          </a:p>
        </p:txBody>
      </p:sp>
      <p:sp>
        <p:nvSpPr>
          <p:cNvPr id="28" name="Text 26"/>
          <p:cNvSpPr txBox="1"/>
          <p:nvPr/>
        </p:nvSpPr>
        <p:spPr>
          <a:xfrm>
            <a:off x="6108192" y="2743200"/>
            <a:ext cx="1115568" cy="1005840"/>
          </a:xfrm>
          <a:prstGeom prst="rect">
            <a:avLst/>
          </a:prstGeom>
          <a:noFill/>
          <a:ln/>
        </p:spPr>
        <p:txBody>
          <a:bodyPr wrap="square" lIns="0" tIns="0" rIns="0" bIns="0" rtlCol="0" anchor="t"/>
          <a:lstStyle/>
          <a:p>
            <a:pPr algn="ctr" indent="0" marL="0">
              <a:buNone/>
            </a:pPr>
            <a:r>
              <a:rPr lang="en-US" sz="1100" dirty="0">
                <a:solidFill>
                  <a:srgbClr val="5F6B7A"/>
                </a:solidFill>
                <a:latin typeface="Calibri" pitchFamily="34" charset="0"/>
                <a:ea typeface="Calibri" pitchFamily="34" charset="-122"/>
                <a:cs typeface="Calibri" pitchFamily="34" charset="-120"/>
              </a:rPr>
              <a:t>System prompt + history + KB context + question</a:t>
            </a:r>
            <a:endParaRPr lang="en-US" sz="1100" dirty="0"/>
          </a:p>
        </p:txBody>
      </p:sp>
      <p:sp>
        <p:nvSpPr>
          <p:cNvPr id="29" name="Shape 27"/>
          <p:cNvSpPr/>
          <p:nvPr/>
        </p:nvSpPr>
        <p:spPr>
          <a:xfrm>
            <a:off x="7406640" y="1463040"/>
            <a:ext cx="1298448" cy="2377440"/>
          </a:xfrm>
          <a:prstGeom prst="roundRect">
            <a:avLst>
              <a:gd name="adj" fmla="val 5634"/>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30" name="Shape 28"/>
          <p:cNvSpPr/>
          <p:nvPr/>
        </p:nvSpPr>
        <p:spPr>
          <a:xfrm>
            <a:off x="7827264" y="1645920"/>
            <a:ext cx="457200" cy="457200"/>
          </a:xfrm>
          <a:prstGeom prst="ellipse">
            <a:avLst/>
          </a:prstGeom>
          <a:solidFill>
            <a:srgbClr val="14897C"/>
          </a:solidFill>
          <a:ln w="12700">
            <a:solidFill>
              <a:srgbClr val="14897C"/>
            </a:solidFill>
            <a:prstDash val="solid"/>
          </a:ln>
        </p:spPr>
      </p:sp>
      <p:sp>
        <p:nvSpPr>
          <p:cNvPr id="31" name="Text 29"/>
          <p:cNvSpPr txBox="1"/>
          <p:nvPr/>
        </p:nvSpPr>
        <p:spPr>
          <a:xfrm>
            <a:off x="7827264"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2" name="Text 30"/>
          <p:cNvSpPr txBox="1"/>
          <p:nvPr/>
        </p:nvSpPr>
        <p:spPr>
          <a:xfrm>
            <a:off x="7479792" y="2240280"/>
            <a:ext cx="1152144" cy="457200"/>
          </a:xfrm>
          <a:prstGeom prst="rect">
            <a:avLst/>
          </a:prstGeom>
          <a:noFill/>
          <a:ln/>
        </p:spPr>
        <p:txBody>
          <a:bodyPr wrap="square" lIns="0" tIns="0" rIns="0" bIns="0" rtlCol="0" anchor="ctr"/>
          <a:lstStyle/>
          <a:p>
            <a:pPr algn="ctr" indent="0" marL="0">
              <a:buNone/>
            </a:pPr>
            <a:r>
              <a:rPr lang="en-US" sz="1200" b="1" dirty="0">
                <a:solidFill>
                  <a:srgbClr val="1C2430"/>
                </a:solidFill>
                <a:latin typeface="Arial" pitchFamily="34" charset="0"/>
                <a:ea typeface="Arial" pitchFamily="34" charset="-122"/>
                <a:cs typeface="Arial" pitchFamily="34" charset="-120"/>
              </a:rPr>
              <a:t>Generate &amp; stream</a:t>
            </a:r>
            <a:endParaRPr lang="en-US" sz="1200" dirty="0"/>
          </a:p>
        </p:txBody>
      </p:sp>
      <p:sp>
        <p:nvSpPr>
          <p:cNvPr id="33" name="Text 31"/>
          <p:cNvSpPr txBox="1"/>
          <p:nvPr/>
        </p:nvSpPr>
        <p:spPr>
          <a:xfrm>
            <a:off x="7498080" y="2743200"/>
            <a:ext cx="1115568" cy="1005840"/>
          </a:xfrm>
          <a:prstGeom prst="rect">
            <a:avLst/>
          </a:prstGeom>
          <a:noFill/>
          <a:ln/>
        </p:spPr>
        <p:txBody>
          <a:bodyPr wrap="square" lIns="0" tIns="0" rIns="0" bIns="0" rtlCol="0" anchor="t"/>
          <a:lstStyle/>
          <a:p>
            <a:pPr algn="ctr" indent="0" marL="0">
              <a:buNone/>
            </a:pPr>
            <a:r>
              <a:rPr lang="en-US" sz="1100" dirty="0">
                <a:solidFill>
                  <a:srgbClr val="5F6B7A"/>
                </a:solidFill>
                <a:latin typeface="Calibri" pitchFamily="34" charset="0"/>
                <a:ea typeface="Calibri" pitchFamily="34" charset="-122"/>
                <a:cs typeface="Calibri" pitchFamily="34" charset="-120"/>
              </a:rPr>
              <a:t>Gemma streams tokens, then the sources trailer</a:t>
            </a:r>
            <a:endParaRPr lang="en-US" sz="1100" dirty="0"/>
          </a:p>
        </p:txBody>
      </p:sp>
      <p:sp>
        <p:nvSpPr>
          <p:cNvPr id="34" name="Shape 32"/>
          <p:cNvSpPr/>
          <p:nvPr/>
        </p:nvSpPr>
        <p:spPr>
          <a:xfrm>
            <a:off x="457200" y="4069080"/>
            <a:ext cx="8229600" cy="594360"/>
          </a:xfrm>
          <a:prstGeom prst="roundRect">
            <a:avLst>
              <a:gd name="adj" fmla="val 12308"/>
            </a:avLst>
          </a:prstGeom>
          <a:solidFill>
            <a:srgbClr val="10212B"/>
          </a:solidFill>
          <a:ln w="12700">
            <a:solidFill>
              <a:srgbClr val="10212B"/>
            </a:solidFill>
            <a:prstDash val="solid"/>
          </a:ln>
        </p:spPr>
      </p:sp>
      <p:sp>
        <p:nvSpPr>
          <p:cNvPr id="35" name="Text 33"/>
          <p:cNvSpPr txBox="1"/>
          <p:nvPr/>
        </p:nvSpPr>
        <p:spPr>
          <a:xfrm>
            <a:off x="640080" y="4069080"/>
            <a:ext cx="7863840" cy="594360"/>
          </a:xfrm>
          <a:prstGeom prst="rect">
            <a:avLst/>
          </a:prstGeom>
          <a:noFill/>
          <a:ln/>
        </p:spPr>
        <p:txBody>
          <a:bodyPr wrap="square" lIns="0" tIns="0" rIns="0" bIns="0" rtlCol="0" anchor="ctr"/>
          <a:lstStyle/>
          <a:p>
            <a:pPr indent="0" marL="0">
              <a:buNone/>
            </a:pPr>
            <a:r>
              <a:rPr lang="en-US" sz="1300" b="1" dirty="0">
                <a:solidFill>
                  <a:srgbClr val="F2A541"/>
                </a:solidFill>
                <a:latin typeface="Calibri" pitchFamily="34" charset="0"/>
                <a:ea typeface="Calibri" pitchFamily="34" charset="-122"/>
                <a:cs typeface="Calibri" pitchFamily="34" charset="-120"/>
              </a:rPr>
              <a:t>Short-circuit: </a:t>
            </a:r>
            <a:pPr indent="0" marL="0">
              <a:buNone/>
            </a:pPr>
            <a:r>
              <a:rPr lang="en-US" sz="1300" dirty="0">
                <a:solidFill>
                  <a:srgbClr val="FFFFFF"/>
                </a:solidFill>
                <a:latin typeface="Calibri" pitchFamily="34" charset="0"/>
                <a:ea typeface="Calibri" pitchFamily="34" charset="-122"/>
                <a:cs typeface="Calibri" pitchFamily="34" charset="-120"/>
              </a:rPr>
              <a:t>greetings and off-topic messages stop at step 2 with a canned reply. The LLM is never called.</a:t>
            </a:r>
            <a:endParaRPr lang="en-US" sz="1300" dirty="0"/>
          </a:p>
        </p:txBody>
      </p:sp>
      <p:sp>
        <p:nvSpPr>
          <p:cNvPr id="36" name="Text 34"/>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Deterministic intent router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5F6B7A"/>
                </a:solidFill>
                <a:latin typeface="Calibri" pitchFamily="34" charset="0"/>
                <a:ea typeface="Calibri" pitchFamily="34" charset="-122"/>
                <a:cs typeface="Calibri" pitchFamily="34" charset="-120"/>
              </a:rPr>
              <a:t>Regex keyword lists, not the LLM: fast, predictable and easy to test</a:t>
            </a:r>
            <a:endParaRPr lang="en-US" sz="1400" dirty="0"/>
          </a:p>
        </p:txBody>
      </p:sp>
      <p:sp>
        <p:nvSpPr>
          <p:cNvPr id="4" name="Text 2"/>
          <p:cNvSpPr txBox="1"/>
          <p:nvPr/>
        </p:nvSpPr>
        <p:spPr>
          <a:xfrm>
            <a:off x="457200" y="1325880"/>
            <a:ext cx="1463040" cy="274320"/>
          </a:xfrm>
          <a:prstGeom prst="rect">
            <a:avLst/>
          </a:prstGeom>
          <a:noFill/>
          <a:ln/>
        </p:spPr>
        <p:txBody>
          <a:bodyPr wrap="square" lIns="0" tIns="0" rIns="0" bIns="0" rtlCol="0" anchor="ctr"/>
          <a:lstStyle/>
          <a:p>
            <a:pPr indent="0" marL="0">
              <a:buNone/>
            </a:pPr>
            <a:r>
              <a:rPr lang="en-US" sz="1000" b="1" dirty="0">
                <a:solidFill>
                  <a:srgbClr val="5F6B7A"/>
                </a:solidFill>
                <a:latin typeface="Calibri" pitchFamily="34" charset="0"/>
                <a:ea typeface="Calibri" pitchFamily="34" charset="-122"/>
                <a:cs typeface="Calibri" pitchFamily="34" charset="-120"/>
              </a:rPr>
              <a:t>INTENT</a:t>
            </a:r>
            <a:endParaRPr lang="en-US" sz="1000" dirty="0"/>
          </a:p>
        </p:txBody>
      </p:sp>
      <p:sp>
        <p:nvSpPr>
          <p:cNvPr id="5" name="Text 3"/>
          <p:cNvSpPr txBox="1"/>
          <p:nvPr/>
        </p:nvSpPr>
        <p:spPr>
          <a:xfrm>
            <a:off x="2011680" y="1325880"/>
            <a:ext cx="2194560" cy="274320"/>
          </a:xfrm>
          <a:prstGeom prst="rect">
            <a:avLst/>
          </a:prstGeom>
          <a:noFill/>
          <a:ln/>
        </p:spPr>
        <p:txBody>
          <a:bodyPr wrap="square" lIns="0" tIns="0" rIns="0" bIns="0" rtlCol="0" anchor="ctr"/>
          <a:lstStyle/>
          <a:p>
            <a:pPr indent="0" marL="0">
              <a:buNone/>
            </a:pPr>
            <a:r>
              <a:rPr lang="en-US" sz="1000" b="1" dirty="0">
                <a:solidFill>
                  <a:srgbClr val="5F6B7A"/>
                </a:solidFill>
                <a:latin typeface="Calibri" pitchFamily="34" charset="0"/>
                <a:ea typeface="Calibri" pitchFamily="34" charset="-122"/>
                <a:cs typeface="Calibri" pitchFamily="34" charset="-120"/>
              </a:rPr>
              <a:t>EXAMPLE</a:t>
            </a:r>
            <a:endParaRPr lang="en-US" sz="1000" dirty="0"/>
          </a:p>
        </p:txBody>
      </p:sp>
      <p:sp>
        <p:nvSpPr>
          <p:cNvPr id="6" name="Text 4"/>
          <p:cNvSpPr txBox="1"/>
          <p:nvPr/>
        </p:nvSpPr>
        <p:spPr>
          <a:xfrm>
            <a:off x="4251960" y="1325880"/>
            <a:ext cx="914400" cy="274320"/>
          </a:xfrm>
          <a:prstGeom prst="rect">
            <a:avLst/>
          </a:prstGeom>
          <a:noFill/>
          <a:ln/>
        </p:spPr>
        <p:txBody>
          <a:bodyPr wrap="square" lIns="0" tIns="0" rIns="0" bIns="0" rtlCol="0" anchor="ctr"/>
          <a:lstStyle/>
          <a:p>
            <a:pPr indent="0" marL="0">
              <a:buNone/>
            </a:pPr>
            <a:r>
              <a:rPr lang="en-US" sz="1000" b="1" dirty="0">
                <a:solidFill>
                  <a:srgbClr val="5F6B7A"/>
                </a:solidFill>
                <a:latin typeface="Calibri" pitchFamily="34" charset="0"/>
                <a:ea typeface="Calibri" pitchFamily="34" charset="-122"/>
                <a:cs typeface="Calibri" pitchFamily="34" charset="-120"/>
              </a:rPr>
              <a:t>RESULT</a:t>
            </a:r>
            <a:endParaRPr lang="en-US" sz="1000" dirty="0"/>
          </a:p>
        </p:txBody>
      </p:sp>
      <p:sp>
        <p:nvSpPr>
          <p:cNvPr id="7" name="Shape 5"/>
          <p:cNvSpPr/>
          <p:nvPr/>
        </p:nvSpPr>
        <p:spPr>
          <a:xfrm>
            <a:off x="457200" y="1645920"/>
            <a:ext cx="1463040" cy="548640"/>
          </a:xfrm>
          <a:prstGeom prst="roundRect">
            <a:avLst>
              <a:gd name="adj" fmla="val 13333"/>
            </a:avLst>
          </a:prstGeom>
          <a:solidFill>
            <a:srgbClr val="D8F0EC"/>
          </a:solidFill>
          <a:ln w="12700">
            <a:solidFill>
              <a:srgbClr val="D8F0EC"/>
            </a:solidFill>
            <a:prstDash val="solid"/>
          </a:ln>
        </p:spPr>
      </p:sp>
      <p:sp>
        <p:nvSpPr>
          <p:cNvPr id="8" name="Text 6"/>
          <p:cNvSpPr txBox="1"/>
          <p:nvPr/>
        </p:nvSpPr>
        <p:spPr>
          <a:xfrm>
            <a:off x="457200" y="1645920"/>
            <a:ext cx="1463040" cy="548640"/>
          </a:xfrm>
          <a:prstGeom prst="rect">
            <a:avLst/>
          </a:prstGeom>
          <a:noFill/>
          <a:ln/>
        </p:spPr>
        <p:txBody>
          <a:bodyPr wrap="square" lIns="0" tIns="0" rIns="0" bIns="0" rtlCol="0" anchor="ctr"/>
          <a:lstStyle/>
          <a:p>
            <a:pPr algn="ctr" indent="0" marL="0">
              <a:buNone/>
            </a:pPr>
            <a:r>
              <a:rPr lang="en-US" sz="1200" b="1" dirty="0">
                <a:solidFill>
                  <a:srgbClr val="1C2430"/>
                </a:solidFill>
                <a:latin typeface="Courier New" pitchFamily="34" charset="0"/>
                <a:ea typeface="Courier New" pitchFamily="34" charset="-122"/>
                <a:cs typeface="Courier New" pitchFamily="34" charset="-120"/>
              </a:rPr>
              <a:t>greeting</a:t>
            </a:r>
            <a:endParaRPr lang="en-US" sz="1200" dirty="0"/>
          </a:p>
        </p:txBody>
      </p:sp>
      <p:sp>
        <p:nvSpPr>
          <p:cNvPr id="9" name="Text 7"/>
          <p:cNvSpPr txBox="1"/>
          <p:nvPr/>
        </p:nvSpPr>
        <p:spPr>
          <a:xfrm>
            <a:off x="2011680" y="1645920"/>
            <a:ext cx="2194560" cy="548640"/>
          </a:xfrm>
          <a:prstGeom prst="rect">
            <a:avLst/>
          </a:prstGeom>
          <a:noFill/>
          <a:ln/>
        </p:spPr>
        <p:txBody>
          <a:bodyPr wrap="square" lIns="0" tIns="0" rIns="0" bIns="0" rtlCol="0" anchor="ctr"/>
          <a:lstStyle/>
          <a:p>
            <a:pPr indent="0" marL="0">
              <a:buNone/>
            </a:pPr>
            <a:r>
              <a:rPr lang="en-US" sz="1200" dirty="0">
                <a:solidFill>
                  <a:srgbClr val="1C2430"/>
                </a:solidFill>
                <a:latin typeface="Calibri" pitchFamily="34" charset="0"/>
                <a:ea typeface="Calibri" pitchFamily="34" charset="-122"/>
                <a:cs typeface="Calibri" pitchFamily="34" charset="-120"/>
              </a:rPr>
              <a:t>"Hi", "thanks", "good morning"</a:t>
            </a:r>
            <a:endParaRPr lang="en-US" sz="1200" dirty="0"/>
          </a:p>
        </p:txBody>
      </p:sp>
      <p:sp>
        <p:nvSpPr>
          <p:cNvPr id="10" name="Text 8"/>
          <p:cNvSpPr txBox="1"/>
          <p:nvPr/>
        </p:nvSpPr>
        <p:spPr>
          <a:xfrm>
            <a:off x="4251960" y="1645920"/>
            <a:ext cx="914400" cy="548640"/>
          </a:xfrm>
          <a:prstGeom prst="rect">
            <a:avLst/>
          </a:prstGeom>
          <a:noFill/>
          <a:ln/>
        </p:spPr>
        <p:txBody>
          <a:bodyPr wrap="square" lIns="0" tIns="0" rIns="0" bIns="0" rtlCol="0" anchor="ctr"/>
          <a:lstStyle/>
          <a:p>
            <a:pPr indent="0" marL="0">
              <a:buNone/>
            </a:pPr>
            <a:r>
              <a:rPr lang="en-US" sz="1100" b="1" dirty="0">
                <a:solidFill>
                  <a:srgbClr val="14897C"/>
                </a:solidFill>
                <a:latin typeface="Calibri" pitchFamily="34" charset="0"/>
                <a:ea typeface="Calibri" pitchFamily="34" charset="-122"/>
                <a:cs typeface="Calibri" pitchFamily="34" charset="-120"/>
              </a:rPr>
              <a:t>Canned reply</a:t>
            </a:r>
            <a:endParaRPr lang="en-US" sz="1100" dirty="0"/>
          </a:p>
        </p:txBody>
      </p:sp>
      <p:sp>
        <p:nvSpPr>
          <p:cNvPr id="11" name="Shape 9"/>
          <p:cNvSpPr/>
          <p:nvPr/>
        </p:nvSpPr>
        <p:spPr>
          <a:xfrm>
            <a:off x="457200" y="2377440"/>
            <a:ext cx="1463040" cy="548640"/>
          </a:xfrm>
          <a:prstGeom prst="roundRect">
            <a:avLst>
              <a:gd name="adj" fmla="val 13333"/>
            </a:avLst>
          </a:prstGeom>
          <a:solidFill>
            <a:srgbClr val="FBE3D3"/>
          </a:solidFill>
          <a:ln w="12700">
            <a:solidFill>
              <a:srgbClr val="FBE3D3"/>
            </a:solidFill>
            <a:prstDash val="solid"/>
          </a:ln>
        </p:spPr>
      </p:sp>
      <p:sp>
        <p:nvSpPr>
          <p:cNvPr id="12" name="Text 10"/>
          <p:cNvSpPr txBox="1"/>
          <p:nvPr/>
        </p:nvSpPr>
        <p:spPr>
          <a:xfrm>
            <a:off x="457200" y="2377440"/>
            <a:ext cx="1463040" cy="548640"/>
          </a:xfrm>
          <a:prstGeom prst="rect">
            <a:avLst/>
          </a:prstGeom>
          <a:noFill/>
          <a:ln/>
        </p:spPr>
        <p:txBody>
          <a:bodyPr wrap="square" lIns="0" tIns="0" rIns="0" bIns="0" rtlCol="0" anchor="ctr"/>
          <a:lstStyle/>
          <a:p>
            <a:pPr algn="ctr" indent="0" marL="0">
              <a:buNone/>
            </a:pPr>
            <a:r>
              <a:rPr lang="en-US" sz="1200" b="1" dirty="0">
                <a:solidFill>
                  <a:srgbClr val="1C2430"/>
                </a:solidFill>
                <a:latin typeface="Courier New" pitchFamily="34" charset="0"/>
                <a:ea typeface="Courier New" pitchFamily="34" charset="-122"/>
                <a:cs typeface="Courier New" pitchFamily="34" charset="-120"/>
              </a:rPr>
              <a:t>out_of_scope</a:t>
            </a:r>
            <a:endParaRPr lang="en-US" sz="1200" dirty="0"/>
          </a:p>
        </p:txBody>
      </p:sp>
      <p:sp>
        <p:nvSpPr>
          <p:cNvPr id="13" name="Text 11"/>
          <p:cNvSpPr txBox="1"/>
          <p:nvPr/>
        </p:nvSpPr>
        <p:spPr>
          <a:xfrm>
            <a:off x="2011680" y="2377440"/>
            <a:ext cx="2194560" cy="548640"/>
          </a:xfrm>
          <a:prstGeom prst="rect">
            <a:avLst/>
          </a:prstGeom>
          <a:noFill/>
          <a:ln/>
        </p:spPr>
        <p:txBody>
          <a:bodyPr wrap="square" lIns="0" tIns="0" rIns="0" bIns="0" rtlCol="0" anchor="ctr"/>
          <a:lstStyle/>
          <a:p>
            <a:pPr indent="0" marL="0">
              <a:buNone/>
            </a:pPr>
            <a:r>
              <a:rPr lang="en-US" sz="1200" dirty="0">
                <a:solidFill>
                  <a:srgbClr val="1C2430"/>
                </a:solidFill>
                <a:latin typeface="Calibri" pitchFamily="34" charset="0"/>
                <a:ea typeface="Calibri" pitchFamily="34" charset="-122"/>
                <a:cs typeface="Calibri" pitchFamily="34" charset="-120"/>
              </a:rPr>
              <a:t>"Give me a pizza recipe"</a:t>
            </a:r>
            <a:endParaRPr lang="en-US" sz="1200" dirty="0"/>
          </a:p>
        </p:txBody>
      </p:sp>
      <p:sp>
        <p:nvSpPr>
          <p:cNvPr id="14" name="Text 12"/>
          <p:cNvSpPr txBox="1"/>
          <p:nvPr/>
        </p:nvSpPr>
        <p:spPr>
          <a:xfrm>
            <a:off x="4251960" y="2377440"/>
            <a:ext cx="914400" cy="548640"/>
          </a:xfrm>
          <a:prstGeom prst="rect">
            <a:avLst/>
          </a:prstGeom>
          <a:noFill/>
          <a:ln/>
        </p:spPr>
        <p:txBody>
          <a:bodyPr wrap="square" lIns="0" tIns="0" rIns="0" bIns="0" rtlCol="0" anchor="ctr"/>
          <a:lstStyle/>
          <a:p>
            <a:pPr indent="0" marL="0">
              <a:buNone/>
            </a:pPr>
            <a:r>
              <a:rPr lang="en-US" sz="1100" b="1" dirty="0">
                <a:solidFill>
                  <a:srgbClr val="14897C"/>
                </a:solidFill>
                <a:latin typeface="Calibri" pitchFamily="34" charset="0"/>
                <a:ea typeface="Calibri" pitchFamily="34" charset="-122"/>
                <a:cs typeface="Calibri" pitchFamily="34" charset="-120"/>
              </a:rPr>
              <a:t>Exact refusal</a:t>
            </a:r>
            <a:endParaRPr lang="en-US" sz="1100" dirty="0"/>
          </a:p>
        </p:txBody>
      </p:sp>
      <p:sp>
        <p:nvSpPr>
          <p:cNvPr id="15" name="Shape 13"/>
          <p:cNvSpPr/>
          <p:nvPr/>
        </p:nvSpPr>
        <p:spPr>
          <a:xfrm>
            <a:off x="457200" y="3108960"/>
            <a:ext cx="1463040" cy="548640"/>
          </a:xfrm>
          <a:prstGeom prst="roundRect">
            <a:avLst>
              <a:gd name="adj" fmla="val 13333"/>
            </a:avLst>
          </a:prstGeom>
          <a:solidFill>
            <a:srgbClr val="D8F0EC"/>
          </a:solidFill>
          <a:ln w="12700">
            <a:solidFill>
              <a:srgbClr val="D8F0EC"/>
            </a:solidFill>
            <a:prstDash val="solid"/>
          </a:ln>
        </p:spPr>
      </p:sp>
      <p:sp>
        <p:nvSpPr>
          <p:cNvPr id="16" name="Text 14"/>
          <p:cNvSpPr txBox="1"/>
          <p:nvPr/>
        </p:nvSpPr>
        <p:spPr>
          <a:xfrm>
            <a:off x="457200" y="3108960"/>
            <a:ext cx="1463040" cy="548640"/>
          </a:xfrm>
          <a:prstGeom prst="rect">
            <a:avLst/>
          </a:prstGeom>
          <a:noFill/>
          <a:ln/>
        </p:spPr>
        <p:txBody>
          <a:bodyPr wrap="square" lIns="0" tIns="0" rIns="0" bIns="0" rtlCol="0" anchor="ctr"/>
          <a:lstStyle/>
          <a:p>
            <a:pPr algn="ctr" indent="0" marL="0">
              <a:buNone/>
            </a:pPr>
            <a:r>
              <a:rPr lang="en-US" sz="1200" b="1" dirty="0">
                <a:solidFill>
                  <a:srgbClr val="1C2430"/>
                </a:solidFill>
                <a:latin typeface="Courier New" pitchFamily="34" charset="0"/>
                <a:ea typeface="Courier New" pitchFamily="34" charset="-122"/>
                <a:cs typeface="Courier New" pitchFamily="34" charset="-120"/>
              </a:rPr>
              <a:t>license</a:t>
            </a:r>
            <a:endParaRPr lang="en-US" sz="1200" dirty="0"/>
          </a:p>
        </p:txBody>
      </p:sp>
      <p:sp>
        <p:nvSpPr>
          <p:cNvPr id="17" name="Text 15"/>
          <p:cNvSpPr txBox="1"/>
          <p:nvPr/>
        </p:nvSpPr>
        <p:spPr>
          <a:xfrm>
            <a:off x="2011680" y="3108960"/>
            <a:ext cx="2194560" cy="548640"/>
          </a:xfrm>
          <a:prstGeom prst="rect">
            <a:avLst/>
          </a:prstGeom>
          <a:noFill/>
          <a:ln/>
        </p:spPr>
        <p:txBody>
          <a:bodyPr wrap="square" lIns="0" tIns="0" rIns="0" bIns="0" rtlCol="0" anchor="ctr"/>
          <a:lstStyle/>
          <a:p>
            <a:pPr indent="0" marL="0">
              <a:buNone/>
            </a:pPr>
            <a:r>
              <a:rPr lang="en-US" sz="1200" dirty="0">
                <a:solidFill>
                  <a:srgbClr val="1C2430"/>
                </a:solidFill>
                <a:latin typeface="Calibri" pitchFamily="34" charset="0"/>
                <a:ea typeface="Calibri" pitchFamily="34" charset="-122"/>
                <a:cs typeface="Calibri" pitchFamily="34" charset="-120"/>
              </a:rPr>
              <a:t>"How much is an Acrobat licence?"</a:t>
            </a:r>
            <a:endParaRPr lang="en-US" sz="1200" dirty="0"/>
          </a:p>
        </p:txBody>
      </p:sp>
      <p:sp>
        <p:nvSpPr>
          <p:cNvPr id="18" name="Text 16"/>
          <p:cNvSpPr txBox="1"/>
          <p:nvPr/>
        </p:nvSpPr>
        <p:spPr>
          <a:xfrm>
            <a:off x="4251960" y="3108960"/>
            <a:ext cx="914400" cy="548640"/>
          </a:xfrm>
          <a:prstGeom prst="rect">
            <a:avLst/>
          </a:prstGeom>
          <a:noFill/>
          <a:ln/>
        </p:spPr>
        <p:txBody>
          <a:bodyPr wrap="square" lIns="0" tIns="0" rIns="0" bIns="0" rtlCol="0" anchor="ctr"/>
          <a:lstStyle/>
          <a:p>
            <a:pPr indent="0" marL="0">
              <a:buNone/>
            </a:pPr>
            <a:r>
              <a:rPr lang="en-US" sz="1100" b="1" dirty="0">
                <a:solidFill>
                  <a:srgbClr val="14897C"/>
                </a:solidFill>
                <a:latin typeface="Calibri" pitchFamily="34" charset="0"/>
                <a:ea typeface="Calibri" pitchFamily="34" charset="-122"/>
                <a:cs typeface="Calibri" pitchFamily="34" charset="-120"/>
              </a:rPr>
              <a:t>RAG + catalog</a:t>
            </a:r>
            <a:endParaRPr lang="en-US" sz="1100" dirty="0"/>
          </a:p>
        </p:txBody>
      </p:sp>
      <p:sp>
        <p:nvSpPr>
          <p:cNvPr id="19" name="Shape 17"/>
          <p:cNvSpPr/>
          <p:nvPr/>
        </p:nvSpPr>
        <p:spPr>
          <a:xfrm>
            <a:off x="457200" y="3840480"/>
            <a:ext cx="1463040" cy="548640"/>
          </a:xfrm>
          <a:prstGeom prst="roundRect">
            <a:avLst>
              <a:gd name="adj" fmla="val 13333"/>
            </a:avLst>
          </a:prstGeom>
          <a:solidFill>
            <a:srgbClr val="D8F0EC"/>
          </a:solidFill>
          <a:ln w="12700">
            <a:solidFill>
              <a:srgbClr val="D8F0EC"/>
            </a:solidFill>
            <a:prstDash val="solid"/>
          </a:ln>
        </p:spPr>
      </p:sp>
      <p:sp>
        <p:nvSpPr>
          <p:cNvPr id="20" name="Text 18"/>
          <p:cNvSpPr txBox="1"/>
          <p:nvPr/>
        </p:nvSpPr>
        <p:spPr>
          <a:xfrm>
            <a:off x="457200" y="3840480"/>
            <a:ext cx="1463040" cy="548640"/>
          </a:xfrm>
          <a:prstGeom prst="rect">
            <a:avLst/>
          </a:prstGeom>
          <a:noFill/>
          <a:ln/>
        </p:spPr>
        <p:txBody>
          <a:bodyPr wrap="square" lIns="0" tIns="0" rIns="0" bIns="0" rtlCol="0" anchor="ctr"/>
          <a:lstStyle/>
          <a:p>
            <a:pPr algn="ctr" indent="0" marL="0">
              <a:buNone/>
            </a:pPr>
            <a:r>
              <a:rPr lang="en-US" sz="1200" b="1" dirty="0">
                <a:solidFill>
                  <a:srgbClr val="1C2430"/>
                </a:solidFill>
                <a:latin typeface="Courier New" pitchFamily="34" charset="0"/>
                <a:ea typeface="Courier New" pitchFamily="34" charset="-122"/>
                <a:cs typeface="Courier New" pitchFamily="34" charset="-120"/>
              </a:rPr>
              <a:t>it_support</a:t>
            </a:r>
            <a:endParaRPr lang="en-US" sz="1200" dirty="0"/>
          </a:p>
        </p:txBody>
      </p:sp>
      <p:sp>
        <p:nvSpPr>
          <p:cNvPr id="21" name="Text 19"/>
          <p:cNvSpPr txBox="1"/>
          <p:nvPr/>
        </p:nvSpPr>
        <p:spPr>
          <a:xfrm>
            <a:off x="2011680" y="3840480"/>
            <a:ext cx="2194560" cy="548640"/>
          </a:xfrm>
          <a:prstGeom prst="rect">
            <a:avLst/>
          </a:prstGeom>
          <a:noFill/>
          <a:ln/>
        </p:spPr>
        <p:txBody>
          <a:bodyPr wrap="square" lIns="0" tIns="0" rIns="0" bIns="0" rtlCol="0" anchor="ctr"/>
          <a:lstStyle/>
          <a:p>
            <a:pPr indent="0" marL="0">
              <a:buNone/>
            </a:pPr>
            <a:r>
              <a:rPr lang="en-US" sz="1200" dirty="0">
                <a:solidFill>
                  <a:srgbClr val="1C2430"/>
                </a:solidFill>
                <a:latin typeface="Calibri" pitchFamily="34" charset="0"/>
                <a:ea typeface="Calibri" pitchFamily="34" charset="-122"/>
                <a:cs typeface="Calibri" pitchFamily="34" charset="-120"/>
              </a:rPr>
              <a:t>"My VPN won't connect" (the default)</a:t>
            </a:r>
            <a:endParaRPr lang="en-US" sz="1200" dirty="0"/>
          </a:p>
        </p:txBody>
      </p:sp>
      <p:sp>
        <p:nvSpPr>
          <p:cNvPr id="22" name="Text 20"/>
          <p:cNvSpPr txBox="1"/>
          <p:nvPr/>
        </p:nvSpPr>
        <p:spPr>
          <a:xfrm>
            <a:off x="4251960" y="3840480"/>
            <a:ext cx="914400" cy="548640"/>
          </a:xfrm>
          <a:prstGeom prst="rect">
            <a:avLst/>
          </a:prstGeom>
          <a:noFill/>
          <a:ln/>
        </p:spPr>
        <p:txBody>
          <a:bodyPr wrap="square" lIns="0" tIns="0" rIns="0" bIns="0" rtlCol="0" anchor="ctr"/>
          <a:lstStyle/>
          <a:p>
            <a:pPr indent="0" marL="0">
              <a:buNone/>
            </a:pPr>
            <a:r>
              <a:rPr lang="en-US" sz="1100" b="1" dirty="0">
                <a:solidFill>
                  <a:srgbClr val="14897C"/>
                </a:solidFill>
                <a:latin typeface="Calibri" pitchFamily="34" charset="0"/>
                <a:ea typeface="Calibri" pitchFamily="34" charset="-122"/>
                <a:cs typeface="Calibri" pitchFamily="34" charset="-120"/>
              </a:rPr>
              <a:t>RAG + Gemma</a:t>
            </a:r>
            <a:endParaRPr lang="en-US" sz="1100" dirty="0"/>
          </a:p>
        </p:txBody>
      </p:sp>
      <p:sp>
        <p:nvSpPr>
          <p:cNvPr id="23" name="Shape 21"/>
          <p:cNvSpPr/>
          <p:nvPr/>
        </p:nvSpPr>
        <p:spPr>
          <a:xfrm>
            <a:off x="5486400" y="1325880"/>
            <a:ext cx="3200400" cy="3337560"/>
          </a:xfrm>
          <a:prstGeom prst="roundRect">
            <a:avLst>
              <a:gd name="adj" fmla="val 2286"/>
            </a:avLst>
          </a:prstGeom>
          <a:solidFill>
            <a:srgbClr val="10212B"/>
          </a:solidFill>
          <a:ln w="12700">
            <a:solidFill>
              <a:srgbClr val="10212B"/>
            </a:solidFill>
            <a:prstDash val="solid"/>
          </a:ln>
        </p:spPr>
      </p:sp>
      <p:sp>
        <p:nvSpPr>
          <p:cNvPr id="24" name="Text 22"/>
          <p:cNvSpPr txBox="1"/>
          <p:nvPr/>
        </p:nvSpPr>
        <p:spPr>
          <a:xfrm>
            <a:off x="5715000" y="1463040"/>
            <a:ext cx="2743200" cy="365760"/>
          </a:xfrm>
          <a:prstGeom prst="rect">
            <a:avLst/>
          </a:prstGeom>
          <a:noFill/>
          <a:ln/>
        </p:spPr>
        <p:txBody>
          <a:bodyPr wrap="square" lIns="0" tIns="0" rIns="0" bIns="0" rtlCol="0" anchor="ctr"/>
          <a:lstStyle/>
          <a:p>
            <a:pPr indent="0" marL="0">
              <a:buNone/>
            </a:pPr>
            <a:r>
              <a:rPr lang="en-US" sz="1500" b="1" dirty="0">
                <a:solidFill>
                  <a:srgbClr val="F2A541"/>
                </a:solidFill>
                <a:latin typeface="Arial" pitchFamily="34" charset="0"/>
                <a:ea typeface="Arial" pitchFamily="34" charset="-122"/>
                <a:cs typeface="Arial" pitchFamily="34" charset="-120"/>
              </a:rPr>
              <a:t>Tricky cases handled</a:t>
            </a:r>
            <a:endParaRPr lang="en-US" sz="1500" dirty="0"/>
          </a:p>
        </p:txBody>
      </p:sp>
      <p:sp>
        <p:nvSpPr>
          <p:cNvPr id="25" name="Text 23"/>
          <p:cNvSpPr txBox="1"/>
          <p:nvPr/>
        </p:nvSpPr>
        <p:spPr>
          <a:xfrm>
            <a:off x="5715000" y="1920240"/>
            <a:ext cx="2834640" cy="7315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"Hi, my printer won't print"</a:t>
            </a:r>
            <a:endParaRPr lang="en-US" sz="1200" dirty="0"/>
          </a:p>
          <a:p>
            <a:pPr indent="0" marL="0">
              <a:buNone/>
            </a:pPr>
            <a:r>
              <a:rPr lang="en-US" sz="1200" dirty="0">
                <a:solidFill>
                  <a:srgbClr val="9FC7C1"/>
                </a:solidFill>
                <a:latin typeface="Calibri" pitchFamily="34" charset="0"/>
                <a:ea typeface="Calibri" pitchFamily="34" charset="-122"/>
                <a:cs typeface="Calibri" pitchFamily="34" charset="-120"/>
              </a:rPr>
              <a:t>→ IT question, not a greeting</a:t>
            </a:r>
            <a:endParaRPr lang="en-US" sz="1200" dirty="0"/>
          </a:p>
        </p:txBody>
      </p:sp>
      <p:sp>
        <p:nvSpPr>
          <p:cNvPr id="26" name="Text 24"/>
          <p:cNvSpPr txBox="1"/>
          <p:nvPr/>
        </p:nvSpPr>
        <p:spPr>
          <a:xfrm>
            <a:off x="5715000" y="2788920"/>
            <a:ext cx="2834640" cy="7315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"The football app won't install"</a:t>
            </a:r>
            <a:endParaRPr lang="en-US" sz="1200" dirty="0"/>
          </a:p>
          <a:p>
            <a:pPr indent="0" marL="0">
              <a:buNone/>
            </a:pPr>
            <a:r>
              <a:rPr lang="en-US" sz="1200" dirty="0">
                <a:solidFill>
                  <a:srgbClr val="9FC7C1"/>
                </a:solidFill>
                <a:latin typeface="Calibri" pitchFamily="34" charset="0"/>
                <a:ea typeface="Calibri" pitchFamily="34" charset="-122"/>
                <a:cs typeface="Calibri" pitchFamily="34" charset="-120"/>
              </a:rPr>
              <a:t>→ IT wins over the off-topic word</a:t>
            </a:r>
            <a:endParaRPr lang="en-US" sz="1200" dirty="0"/>
          </a:p>
        </p:txBody>
      </p:sp>
      <p:sp>
        <p:nvSpPr>
          <p:cNvPr id="27" name="Text 25"/>
          <p:cNvSpPr txBox="1"/>
          <p:nvPr/>
        </p:nvSpPr>
        <p:spPr>
          <a:xfrm>
            <a:off x="5715000" y="3657600"/>
            <a:ext cx="2834640" cy="7315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"Activate my account"</a:t>
            </a:r>
            <a:endParaRPr lang="en-US" sz="1200" dirty="0"/>
          </a:p>
          <a:p>
            <a:pPr indent="0" marL="0">
              <a:buNone/>
            </a:pPr>
            <a:r>
              <a:rPr lang="en-US" sz="1200" dirty="0">
                <a:solidFill>
                  <a:srgbClr val="9FC7C1"/>
                </a:solidFill>
                <a:latin typeface="Calibri" pitchFamily="34" charset="0"/>
                <a:ea typeface="Calibri" pitchFamily="34" charset="-122"/>
                <a:cs typeface="Calibri" pitchFamily="34" charset="-120"/>
              </a:rPr>
              <a:t>→ IT support, not licensing</a:t>
            </a:r>
            <a:endParaRPr lang="en-US" sz="1200" dirty="0"/>
          </a:p>
        </p:txBody>
      </p:sp>
      <p:sp>
        <p:nvSpPr>
          <p:cNvPr id="28" name="Text 26"/>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Retrieval-augmented knowledge base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5F6B7A"/>
                </a:solidFill>
                <a:latin typeface="Calibri" pitchFamily="34" charset="0"/>
                <a:ea typeface="Calibri" pitchFamily="34" charset="-122"/>
                <a:cs typeface="Calibri" pitchFamily="34" charset="-120"/>
              </a:rPr>
              <a:t>14 seed articles, split into searchable chunks</a:t>
            </a:r>
            <a:endParaRPr lang="en-US" sz="1400" dirty="0"/>
          </a:p>
        </p:txBody>
      </p:sp>
      <p:sp>
        <p:nvSpPr>
          <p:cNvPr id="4" name="Shape 2"/>
          <p:cNvSpPr/>
          <p:nvPr/>
        </p:nvSpPr>
        <p:spPr>
          <a:xfrm>
            <a:off x="457200" y="1325880"/>
            <a:ext cx="4206240" cy="3337560"/>
          </a:xfrm>
          <a:prstGeom prst="roundRect">
            <a:avLst>
              <a:gd name="adj" fmla="val 2192"/>
            </a:avLst>
          </a:prstGeom>
          <a:solidFill>
            <a:srgbClr val="FFFFFF"/>
          </a:solidFill>
          <a:ln w="12700">
            <a:solidFill>
              <a:srgbClr val="E1E7EC"/>
            </a:solidFill>
            <a:prstDash val="solid"/>
          </a:ln>
        </p:spPr>
      </p:sp>
      <p:graphicFrame>
        <p:nvGraphicFramePr>
          <p:cNvPr id="5" name="Chart 0" descr=""/>
          <p:cNvGraphicFramePr/>
          <p:nvPr/>
        </p:nvGraphicFramePr>
        <p:xfrm>
          <a:off x="548640" y="1417320"/>
          <a:ext cx="4023360" cy="3154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937760" y="1371600"/>
            <a:ext cx="457200" cy="457200"/>
          </a:xfrm>
          <a:prstGeom prst="roundRect">
            <a:avLst>
              <a:gd name="adj" fmla="val 20000"/>
            </a:avLst>
          </a:prstGeom>
          <a:solidFill>
            <a:srgbClr val="14897C"/>
          </a:solidFill>
          <a:ln w="12700">
            <a:solidFill>
              <a:srgbClr val="14897C"/>
            </a:solidFill>
            <a:prstDash val="solid"/>
          </a:ln>
        </p:spPr>
      </p:sp>
      <p:pic>
        <p:nvPicPr>
          <p:cNvPr id="7" name="Image 0" descr="preencoded.png">    </p:cNvPr>
          <p:cNvPicPr>
            <a:picLocks noChangeAspect="1"/>
          </p:cNvPicPr>
          <p:nvPr/>
        </p:nvPicPr>
        <p:blipFill>
          <a:blip r:embed="rId2"/>
          <a:stretch>
            <a:fillRect/>
          </a:stretch>
        </p:blipFill>
        <p:spPr>
          <a:xfrm>
            <a:off x="5047488" y="1481328"/>
            <a:ext cx="237744" cy="237744"/>
          </a:xfrm>
          <a:prstGeom prst="rect">
            <a:avLst/>
          </a:prstGeom>
        </p:spPr>
      </p:pic>
      <p:sp>
        <p:nvSpPr>
          <p:cNvPr id="8" name="Text 4"/>
          <p:cNvSpPr txBox="1"/>
          <p:nvPr/>
        </p:nvSpPr>
        <p:spPr>
          <a:xfrm>
            <a:off x="5577840" y="1325880"/>
            <a:ext cx="3108960" cy="292608"/>
          </a:xfrm>
          <a:prstGeom prst="rect">
            <a:avLst/>
          </a:prstGeom>
          <a:noFill/>
          <a:ln/>
        </p:spPr>
        <p:txBody>
          <a:bodyPr wrap="square" lIns="0" tIns="0" rIns="0" bIns="0" rtlCol="0" anchor="ctr"/>
          <a:lstStyle/>
          <a:p>
            <a:pPr indent="0" marL="0">
              <a:buNone/>
            </a:pPr>
            <a:r>
              <a:rPr lang="en-US" sz="1400" b="1" dirty="0">
                <a:solidFill>
                  <a:srgbClr val="1C2430"/>
                </a:solidFill>
                <a:latin typeface="Arial" pitchFamily="34" charset="0"/>
                <a:ea typeface="Arial" pitchFamily="34" charset="-122"/>
                <a:cs typeface="Arial" pitchFamily="34" charset="-120"/>
              </a:rPr>
              <a:t>Chunking</a:t>
            </a:r>
            <a:endParaRPr lang="en-US" sz="1400" dirty="0"/>
          </a:p>
        </p:txBody>
      </p:sp>
      <p:sp>
        <p:nvSpPr>
          <p:cNvPr id="9" name="Text 5"/>
          <p:cNvSpPr txBox="1"/>
          <p:nvPr/>
        </p:nvSpPr>
        <p:spPr>
          <a:xfrm>
            <a:off x="5577840" y="1636776"/>
            <a:ext cx="3108960" cy="7315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Split on ## headings; long sections split by paragraph; each chunk prefixed with the article title.</a:t>
            </a:r>
            <a:endParaRPr lang="en-US" sz="1200" dirty="0"/>
          </a:p>
        </p:txBody>
      </p:sp>
      <p:sp>
        <p:nvSpPr>
          <p:cNvPr id="10" name="Shape 6"/>
          <p:cNvSpPr/>
          <p:nvPr/>
        </p:nvSpPr>
        <p:spPr>
          <a:xfrm>
            <a:off x="4937760" y="2487168"/>
            <a:ext cx="457200" cy="457200"/>
          </a:xfrm>
          <a:prstGeom prst="roundRect">
            <a:avLst>
              <a:gd name="adj" fmla="val 20000"/>
            </a:avLst>
          </a:prstGeom>
          <a:solidFill>
            <a:srgbClr val="14897C"/>
          </a:solidFill>
          <a:ln w="12700">
            <a:solidFill>
              <a:srgbClr val="14897C"/>
            </a:solidFill>
            <a:prstDash val="solid"/>
          </a:ln>
        </p:spPr>
      </p:sp>
      <p:pic>
        <p:nvPicPr>
          <p:cNvPr id="11" name="Image 1" descr="preencoded.png">    </p:cNvPr>
          <p:cNvPicPr>
            <a:picLocks noChangeAspect="1"/>
          </p:cNvPicPr>
          <p:nvPr/>
        </p:nvPicPr>
        <p:blipFill>
          <a:blip r:embed="rId3"/>
          <a:stretch>
            <a:fillRect/>
          </a:stretch>
        </p:blipFill>
        <p:spPr>
          <a:xfrm>
            <a:off x="5047488" y="2596896"/>
            <a:ext cx="237744" cy="237744"/>
          </a:xfrm>
          <a:prstGeom prst="rect">
            <a:avLst/>
          </a:prstGeom>
        </p:spPr>
      </p:pic>
      <p:sp>
        <p:nvSpPr>
          <p:cNvPr id="12" name="Text 7"/>
          <p:cNvSpPr txBox="1"/>
          <p:nvPr/>
        </p:nvSpPr>
        <p:spPr>
          <a:xfrm>
            <a:off x="5577840" y="2441448"/>
            <a:ext cx="3108960" cy="292608"/>
          </a:xfrm>
          <a:prstGeom prst="rect">
            <a:avLst/>
          </a:prstGeom>
          <a:noFill/>
          <a:ln/>
        </p:spPr>
        <p:txBody>
          <a:bodyPr wrap="square" lIns="0" tIns="0" rIns="0" bIns="0" rtlCol="0" anchor="ctr"/>
          <a:lstStyle/>
          <a:p>
            <a:pPr indent="0" marL="0">
              <a:buNone/>
            </a:pPr>
            <a:r>
              <a:rPr lang="en-US" sz="1400" b="1" dirty="0">
                <a:solidFill>
                  <a:srgbClr val="1C2430"/>
                </a:solidFill>
                <a:latin typeface="Arial" pitchFamily="34" charset="0"/>
                <a:ea typeface="Arial" pitchFamily="34" charset="-122"/>
                <a:cs typeface="Arial" pitchFamily="34" charset="-120"/>
              </a:rPr>
              <a:t>Search</a:t>
            </a:r>
            <a:endParaRPr lang="en-US" sz="1400" dirty="0"/>
          </a:p>
        </p:txBody>
      </p:sp>
      <p:sp>
        <p:nvSpPr>
          <p:cNvPr id="13" name="Text 8"/>
          <p:cNvSpPr txBox="1"/>
          <p:nvPr/>
        </p:nvSpPr>
        <p:spPr>
          <a:xfrm>
            <a:off x="5577840" y="2752344"/>
            <a:ext cx="3108960" cy="7315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nomic prefixes (search_document / search_query), cosine space, top 4, drop anything above distance 0.5.</a:t>
            </a:r>
            <a:endParaRPr lang="en-US" sz="1200" dirty="0"/>
          </a:p>
        </p:txBody>
      </p:sp>
      <p:sp>
        <p:nvSpPr>
          <p:cNvPr id="14" name="Shape 9"/>
          <p:cNvSpPr/>
          <p:nvPr/>
        </p:nvSpPr>
        <p:spPr>
          <a:xfrm>
            <a:off x="4937760" y="3602736"/>
            <a:ext cx="457200" cy="457200"/>
          </a:xfrm>
          <a:prstGeom prst="roundRect">
            <a:avLst>
              <a:gd name="adj" fmla="val 20000"/>
            </a:avLst>
          </a:prstGeom>
          <a:solidFill>
            <a:srgbClr val="14897C"/>
          </a:solidFill>
          <a:ln w="12700">
            <a:solidFill>
              <a:srgbClr val="14897C"/>
            </a:solidFill>
            <a:prstDash val="solid"/>
          </a:ln>
        </p:spPr>
      </p:sp>
      <p:pic>
        <p:nvPicPr>
          <p:cNvPr id="15" name="Image 2" descr="preencoded.png">    </p:cNvPr>
          <p:cNvPicPr>
            <a:picLocks noChangeAspect="1"/>
          </p:cNvPicPr>
          <p:nvPr/>
        </p:nvPicPr>
        <p:blipFill>
          <a:blip r:embed="rId4"/>
          <a:stretch>
            <a:fillRect/>
          </a:stretch>
        </p:blipFill>
        <p:spPr>
          <a:xfrm>
            <a:off x="5047488" y="3712464"/>
            <a:ext cx="237744" cy="237744"/>
          </a:xfrm>
          <a:prstGeom prst="rect">
            <a:avLst/>
          </a:prstGeom>
        </p:spPr>
      </p:pic>
      <p:sp>
        <p:nvSpPr>
          <p:cNvPr id="16" name="Text 10"/>
          <p:cNvSpPr txBox="1"/>
          <p:nvPr/>
        </p:nvSpPr>
        <p:spPr>
          <a:xfrm>
            <a:off x="5577840" y="3557016"/>
            <a:ext cx="3108960" cy="292608"/>
          </a:xfrm>
          <a:prstGeom prst="rect">
            <a:avLst/>
          </a:prstGeom>
          <a:noFill/>
          <a:ln/>
        </p:spPr>
        <p:txBody>
          <a:bodyPr wrap="square" lIns="0" tIns="0" rIns="0" bIns="0" rtlCol="0" anchor="ctr"/>
          <a:lstStyle/>
          <a:p>
            <a:pPr indent="0" marL="0">
              <a:buNone/>
            </a:pPr>
            <a:r>
              <a:rPr lang="en-US" sz="1400" b="1" dirty="0">
                <a:solidFill>
                  <a:srgbClr val="1C2430"/>
                </a:solidFill>
                <a:latin typeface="Arial" pitchFamily="34" charset="0"/>
                <a:ea typeface="Arial" pitchFamily="34" charset="-122"/>
                <a:cs typeface="Arial" pitchFamily="34" charset="-120"/>
              </a:rPr>
              <a:t>Traceable</a:t>
            </a:r>
            <a:endParaRPr lang="en-US" sz="1400" dirty="0"/>
          </a:p>
        </p:txBody>
      </p:sp>
      <p:sp>
        <p:nvSpPr>
          <p:cNvPr id="17" name="Text 11"/>
          <p:cNvSpPr txBox="1"/>
          <p:nvPr/>
        </p:nvSpPr>
        <p:spPr>
          <a:xfrm>
            <a:off x="5577840" y="3867912"/>
            <a:ext cx="3108960" cy="7315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Each chunk stores its source file, shown under the answer (e.g. windows/network-reset.md).</a:t>
            </a:r>
            <a:endParaRPr lang="en-US" sz="1200" dirty="0"/>
          </a:p>
        </p:txBody>
      </p:sp>
      <p:sp>
        <p:nvSpPr>
          <p:cNvPr id="18" name="Text 12"/>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Licensing without hallucination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5F6B7A"/>
                </a:solidFill>
                <a:latin typeface="Calibri" pitchFamily="34" charset="0"/>
                <a:ea typeface="Calibri" pitchFamily="34" charset="-122"/>
                <a:cs typeface="Calibri" pitchFamily="34" charset="-120"/>
              </a:rPr>
              <a:t>Answers use a fictional catalog, validated with a pydantic model at load time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937760" cy="914400"/>
        </p:xfrm>
        <a:graphic>
          <a:graphicData uri="http://schemas.openxmlformats.org/drawingml/2006/table">
            <a:tbl>
              <a:tblPr/>
              <a:tblGrid>
                <a:gridCol w="2103120"/>
                <a:gridCol w="1097280"/>
                <a:gridCol w="868680"/>
                <a:gridCol w="8686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Product</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1021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Price / user / yr</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1021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Approval</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1021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Available</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10212B"/>
                    </a:solidFill>
                  </a:tcPr>
                </a:tc>
              </a:tr>
              <a:tr h="384048">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Microsoft 365 Business Std</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Manager</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Adobe Acrobat Pro</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Manager</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r>
              <a:tr h="384048">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Zoom Workplace Pro</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$160</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JetBrains IntelliJ Ultimate</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$599</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Manager</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r>
              <a:tr h="384048">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Slack Pro</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Autodesk AutoCAD</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$2,030</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c>
                  <a:txBody>
                    <a:bodyPr/>
                    <a:lstStyle/>
                    <a:p>
                      <a:pPr indent="0" marL="0">
                        <a:buNone/>
                      </a:pPr>
                      <a:r>
                        <a:rPr lang="en-US" sz="1100" dirty="0">
                          <a:solidFill>
                            <a:srgbClr val="1C2430"/>
                          </a:solidFill>
                          <a:latin typeface="Calibri" pitchFamily="34" charset="0"/>
                          <a:ea typeface="Calibri" pitchFamily="34" charset="-122"/>
                          <a:cs typeface="Calibri" pitchFamily="34" charset="-120"/>
                        </a:rPr>
                        <a:t>Manager</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c>
                  <a:txBody>
                    <a:bodyPr/>
                    <a:lstStyle/>
                    <a:p>
                      <a:pPr indent="0" marL="0">
                        <a:buNone/>
                      </a:pPr>
                      <a:r>
                        <a:rPr lang="en-US" sz="1100" b="1" dirty="0">
                          <a:solidFill>
                            <a:srgbClr val="C0392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6350" cap="flat" cmpd="sng" algn="ctr">
                      <a:solidFill>
                        <a:srgbClr val="E1E7EC"/>
                      </a:solidFill>
                      <a:prstDash val="solid"/>
                      <a:round/>
                      <a:headEnd type="none" w="med" len="med"/>
                      <a:tailEnd type="none" w="med" len="med"/>
                    </a:lnL>
                    <a:lnR w="6350" cap="flat" cmpd="sng" algn="ctr">
                      <a:solidFill>
                        <a:srgbClr val="E1E7EC"/>
                      </a:solidFill>
                      <a:prstDash val="solid"/>
                      <a:round/>
                      <a:headEnd type="none" w="med" len="med"/>
                      <a:tailEnd type="none" w="med" len="med"/>
                    </a:lnR>
                    <a:lnT w="6350" cap="flat" cmpd="sng" algn="ctr">
                      <a:solidFill>
                        <a:srgbClr val="E1E7EC"/>
                      </a:solidFill>
                      <a:prstDash val="solid"/>
                      <a:round/>
                      <a:headEnd type="none" w="med" len="med"/>
                      <a:tailEnd type="none" w="med" len="med"/>
                    </a:lnT>
                    <a:lnB w="6350" cap="flat" cmpd="sng" algn="ctr">
                      <a:solidFill>
                        <a:srgbClr val="E1E7EC"/>
                      </a:solidFill>
                      <a:prstDash val="solid"/>
                      <a:round/>
                      <a:headEnd type="none" w="med" len="med"/>
                      <a:tailEnd type="none" w="med" len="med"/>
                    </a:lnB>
                    <a:solidFill>
                      <a:srgbClr val="F4F7F9"/>
                    </a:solidFill>
                  </a:tcPr>
                </a:tc>
              </a:tr>
            </a:tbl>
          </a:graphicData>
        </a:graphic>
      </p:graphicFrame>
      <p:sp>
        <p:nvSpPr>
          <p:cNvPr id="5" name="Shape 2"/>
          <p:cNvSpPr/>
          <p:nvPr/>
        </p:nvSpPr>
        <p:spPr>
          <a:xfrm>
            <a:off x="5669280" y="1325880"/>
            <a:ext cx="3017520" cy="3337560"/>
          </a:xfrm>
          <a:prstGeom prst="roundRect">
            <a:avLst>
              <a:gd name="adj" fmla="val 2424"/>
            </a:avLst>
          </a:prstGeom>
          <a:solidFill>
            <a:srgbClr val="D8F0EC"/>
          </a:solidFill>
          <a:ln w="12700">
            <a:solidFill>
              <a:srgbClr val="D8F0EC"/>
            </a:solidFill>
            <a:prstDash val="solid"/>
          </a:ln>
        </p:spPr>
      </p:sp>
      <p:sp>
        <p:nvSpPr>
          <p:cNvPr id="6" name="Text 3"/>
          <p:cNvSpPr txBox="1"/>
          <p:nvPr/>
        </p:nvSpPr>
        <p:spPr>
          <a:xfrm>
            <a:off x="5897880" y="1463040"/>
            <a:ext cx="2651760" cy="365760"/>
          </a:xfrm>
          <a:prstGeom prst="rect">
            <a:avLst/>
          </a:prstGeom>
          <a:noFill/>
          <a:ln/>
        </p:spPr>
        <p:txBody>
          <a:bodyPr wrap="square" lIns="0" tIns="0" rIns="0" bIns="0" rtlCol="0" anchor="ctr"/>
          <a:lstStyle/>
          <a:p>
            <a:pPr indent="0" marL="0">
              <a:buNone/>
            </a:pPr>
            <a:r>
              <a:rPr lang="en-US" sz="1500" b="1" dirty="0">
                <a:solidFill>
                  <a:srgbClr val="14897C"/>
                </a:solidFill>
                <a:latin typeface="Arial" pitchFamily="34" charset="0"/>
                <a:ea typeface="Arial" pitchFamily="34" charset="-122"/>
                <a:cs typeface="Arial" pitchFamily="34" charset="-120"/>
              </a:rPr>
              <a:t>Guardrails</a:t>
            </a:r>
            <a:endParaRPr lang="en-US" sz="1500" dirty="0"/>
          </a:p>
        </p:txBody>
      </p:sp>
      <p:sp>
        <p:nvSpPr>
          <p:cNvPr id="7" name="Text 4"/>
          <p:cNvSpPr txBox="1"/>
          <p:nvPr/>
        </p:nvSpPr>
        <p:spPr>
          <a:xfrm>
            <a:off x="5897880" y="1920240"/>
            <a:ext cx="265176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C2430"/>
                </a:solidFill>
                <a:latin typeface="Calibri" pitchFamily="34" charset="0"/>
                <a:ea typeface="Calibri" pitchFamily="34" charset="-122"/>
                <a:cs typeface="Calibri" pitchFamily="34" charset="-120"/>
              </a:rPr>
              <a:t>Never invents license keys or prices</a:t>
            </a:r>
            <a:endParaRPr lang="en-US" sz="1300" dirty="0"/>
          </a:p>
          <a:p>
            <a:pPr marL="342900" indent="-342900">
              <a:spcAft>
                <a:spcPts val="800"/>
              </a:spcAft>
              <a:buSzPct val="100000"/>
              <a:buChar char="•"/>
            </a:pPr>
            <a:r>
              <a:rPr lang="en-US" sz="1300" dirty="0">
                <a:solidFill>
                  <a:srgbClr val="1C2430"/>
                </a:solidFill>
                <a:latin typeface="Calibri" pitchFamily="34" charset="0"/>
                <a:ea typeface="Calibri" pitchFamily="34" charset="-122"/>
                <a:cs typeface="Calibri" pitchFamily="34" charset="-120"/>
              </a:rPr>
              <a:t>Never claims a purchase is complete</a:t>
            </a:r>
            <a:endParaRPr lang="en-US" sz="1300" dirty="0"/>
          </a:p>
          <a:p>
            <a:pPr marL="342900" indent="-342900">
              <a:spcAft>
                <a:spcPts val="800"/>
              </a:spcAft>
              <a:buSzPct val="100000"/>
              <a:buChar char="•"/>
            </a:pPr>
            <a:r>
              <a:rPr lang="en-US" sz="1300" dirty="0">
                <a:solidFill>
                  <a:srgbClr val="1C2430"/>
                </a:solidFill>
                <a:latin typeface="Calibri" pitchFamily="34" charset="0"/>
                <a:ea typeface="Calibri" pitchFamily="34" charset="-122"/>
                <a:cs typeface="Calibri" pitchFamily="34" charset="-120"/>
              </a:rPr>
              <a:t>Matches product names and aliases ("m365", "acrobat")</a:t>
            </a:r>
            <a:endParaRPr lang="en-US" sz="1300" dirty="0"/>
          </a:p>
          <a:p>
            <a:pPr marL="342900" indent="-342900">
              <a:spcAft>
                <a:spcPts val="800"/>
              </a:spcAft>
              <a:buSzPct val="100000"/>
              <a:buChar char="•"/>
            </a:pPr>
            <a:r>
              <a:rPr lang="en-US" sz="1300" dirty="0">
                <a:solidFill>
                  <a:srgbClr val="1C2430"/>
                </a:solidFill>
                <a:latin typeface="Calibri" pitchFamily="34" charset="0"/>
                <a:ea typeface="Calibri" pitchFamily="34" charset="-122"/>
                <a:cs typeface="Calibri" pitchFamily="34" charset="-120"/>
              </a:rPr>
              <a:t>No match? The prompt says "No matching license data was found."</a:t>
            </a:r>
            <a:endParaRPr lang="en-US" sz="1300" dirty="0"/>
          </a:p>
        </p:txBody>
      </p:sp>
      <p:sp>
        <p:nvSpPr>
          <p:cNvPr id="8" name="Text 5"/>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Designed to fail gracefully</a:t>
            </a:r>
            <a:endParaRPr lang="en-US" sz="2800" dirty="0"/>
          </a:p>
        </p:txBody>
      </p:sp>
      <p:sp>
        <p:nvSpPr>
          <p:cNvPr id="3" name="Shape 1"/>
          <p:cNvSpPr/>
          <p:nvPr/>
        </p:nvSpPr>
        <p:spPr>
          <a:xfrm>
            <a:off x="457200" y="1143000"/>
            <a:ext cx="8229600" cy="731520"/>
          </a:xfrm>
          <a:prstGeom prst="roundRect">
            <a:avLst>
              <a:gd name="adj" fmla="val 10000"/>
            </a:avLst>
          </a:prstGeom>
          <a:solidFill>
            <a:srgbClr val="FFFFFF"/>
          </a:solidFill>
          <a:ln w="12700">
            <a:solidFill>
              <a:srgbClr val="E1E7EC"/>
            </a:solidFill>
            <a:prstDash val="solid"/>
          </a:ln>
        </p:spPr>
      </p:sp>
      <p:sp>
        <p:nvSpPr>
          <p:cNvPr id="4" name="Shape 2"/>
          <p:cNvSpPr/>
          <p:nvPr/>
        </p:nvSpPr>
        <p:spPr>
          <a:xfrm>
            <a:off x="640080" y="1280160"/>
            <a:ext cx="457200" cy="457200"/>
          </a:xfrm>
          <a:prstGeom prst="roundRect">
            <a:avLst>
              <a:gd name="adj" fmla="val 20000"/>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749808" y="1389888"/>
            <a:ext cx="237744" cy="237744"/>
          </a:xfrm>
          <a:prstGeom prst="rect">
            <a:avLst/>
          </a:prstGeom>
        </p:spPr>
      </p:pic>
      <p:sp>
        <p:nvSpPr>
          <p:cNvPr id="6" name="Text 3"/>
          <p:cNvSpPr txBox="1"/>
          <p:nvPr/>
        </p:nvSpPr>
        <p:spPr>
          <a:xfrm>
            <a:off x="1280160" y="1143000"/>
            <a:ext cx="2926080" cy="73152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Ollama stopped or model not pulled</a:t>
            </a:r>
            <a:endParaRPr lang="en-US" sz="1300" dirty="0"/>
          </a:p>
        </p:txBody>
      </p:sp>
      <p:sp>
        <p:nvSpPr>
          <p:cNvPr id="7" name="Text 4"/>
          <p:cNvSpPr txBox="1"/>
          <p:nvPr/>
        </p:nvSpPr>
        <p:spPr>
          <a:xfrm>
            <a:off x="4389120" y="1143000"/>
            <a:ext cx="4114800" cy="731520"/>
          </a:xfrm>
          <a:prstGeom prst="rect">
            <a:avLst/>
          </a:prstGeom>
          <a:noFill/>
          <a:ln/>
        </p:spPr>
        <p:txBody>
          <a:bodyPr wrap="square" lIns="0" tIns="0" rIns="0" bIns="0" rtlCol="0" anchor="ctr"/>
          <a:lstStyle/>
          <a:p>
            <a:pPr indent="0" marL="0">
              <a:buNone/>
            </a:pPr>
            <a:r>
              <a:rPr lang="en-US" sz="1200" dirty="0">
                <a:solidFill>
                  <a:srgbClr val="5F6B7A"/>
                </a:solidFill>
                <a:latin typeface="Calibri" pitchFamily="34" charset="0"/>
                <a:ea typeface="Calibri" pitchFamily="34" charset="-122"/>
                <a:cs typeface="Calibri" pitchFamily="34" charset="-120"/>
              </a:rPr>
              <a:t>Friendly 503 with the support contact, returned before streaming starts</a:t>
            </a:r>
            <a:endParaRPr lang="en-US" sz="1200" dirty="0"/>
          </a:p>
        </p:txBody>
      </p:sp>
      <p:sp>
        <p:nvSpPr>
          <p:cNvPr id="8" name="Shape 5"/>
          <p:cNvSpPr/>
          <p:nvPr/>
        </p:nvSpPr>
        <p:spPr>
          <a:xfrm>
            <a:off x="457200" y="2029968"/>
            <a:ext cx="8229600" cy="731520"/>
          </a:xfrm>
          <a:prstGeom prst="roundRect">
            <a:avLst>
              <a:gd name="adj" fmla="val 10000"/>
            </a:avLst>
          </a:prstGeom>
          <a:solidFill>
            <a:srgbClr val="FFFFFF"/>
          </a:solidFill>
          <a:ln w="12700">
            <a:solidFill>
              <a:srgbClr val="E1E7EC"/>
            </a:solidFill>
            <a:prstDash val="solid"/>
          </a:ln>
        </p:spPr>
      </p:sp>
      <p:sp>
        <p:nvSpPr>
          <p:cNvPr id="9" name="Shape 6"/>
          <p:cNvSpPr/>
          <p:nvPr/>
        </p:nvSpPr>
        <p:spPr>
          <a:xfrm>
            <a:off x="640080" y="2167128"/>
            <a:ext cx="457200" cy="457200"/>
          </a:xfrm>
          <a:prstGeom prst="roundRect">
            <a:avLst>
              <a:gd name="adj" fmla="val 20000"/>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749808" y="2276856"/>
            <a:ext cx="237744" cy="237744"/>
          </a:xfrm>
          <a:prstGeom prst="rect">
            <a:avLst/>
          </a:prstGeom>
        </p:spPr>
      </p:pic>
      <p:sp>
        <p:nvSpPr>
          <p:cNvPr id="11" name="Text 7"/>
          <p:cNvSpPr txBox="1"/>
          <p:nvPr/>
        </p:nvSpPr>
        <p:spPr>
          <a:xfrm>
            <a:off x="1280160" y="2029968"/>
            <a:ext cx="2926080" cy="73152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Knowledge base empty or broken</a:t>
            </a:r>
            <a:endParaRPr lang="en-US" sz="1300" dirty="0"/>
          </a:p>
        </p:txBody>
      </p:sp>
      <p:sp>
        <p:nvSpPr>
          <p:cNvPr id="12" name="Text 8"/>
          <p:cNvSpPr txBox="1"/>
          <p:nvPr/>
        </p:nvSpPr>
        <p:spPr>
          <a:xfrm>
            <a:off x="4389120" y="2029968"/>
            <a:ext cx="4114800" cy="731520"/>
          </a:xfrm>
          <a:prstGeom prst="rect">
            <a:avLst/>
          </a:prstGeom>
          <a:noFill/>
          <a:ln/>
        </p:spPr>
        <p:txBody>
          <a:bodyPr wrap="square" lIns="0" tIns="0" rIns="0" bIns="0" rtlCol="0" anchor="ctr"/>
          <a:lstStyle/>
          <a:p>
            <a:pPr indent="0" marL="0">
              <a:buNone/>
            </a:pPr>
            <a:r>
              <a:rPr lang="en-US" sz="1200" dirty="0">
                <a:solidFill>
                  <a:srgbClr val="5F6B7A"/>
                </a:solidFill>
                <a:latin typeface="Calibri" pitchFamily="34" charset="0"/>
                <a:ea typeface="Calibri" pitchFamily="34" charset="-122"/>
                <a:cs typeface="Calibri" pitchFamily="34" charset="-120"/>
              </a:rPr>
              <a:t>Still answers without context; /api/health reports kb_chunks: 0</a:t>
            </a:r>
            <a:endParaRPr lang="en-US" sz="1200" dirty="0"/>
          </a:p>
        </p:txBody>
      </p:sp>
      <p:sp>
        <p:nvSpPr>
          <p:cNvPr id="13" name="Shape 9"/>
          <p:cNvSpPr/>
          <p:nvPr/>
        </p:nvSpPr>
        <p:spPr>
          <a:xfrm>
            <a:off x="457200" y="2916936"/>
            <a:ext cx="8229600" cy="731520"/>
          </a:xfrm>
          <a:prstGeom prst="roundRect">
            <a:avLst>
              <a:gd name="adj" fmla="val 10000"/>
            </a:avLst>
          </a:prstGeom>
          <a:solidFill>
            <a:srgbClr val="FFFFFF"/>
          </a:solidFill>
          <a:ln w="12700">
            <a:solidFill>
              <a:srgbClr val="E1E7EC"/>
            </a:solidFill>
            <a:prstDash val="solid"/>
          </a:ln>
        </p:spPr>
      </p:sp>
      <p:sp>
        <p:nvSpPr>
          <p:cNvPr id="14" name="Shape 10"/>
          <p:cNvSpPr/>
          <p:nvPr/>
        </p:nvSpPr>
        <p:spPr>
          <a:xfrm>
            <a:off x="640080" y="3054096"/>
            <a:ext cx="457200" cy="457200"/>
          </a:xfrm>
          <a:prstGeom prst="roundRect">
            <a:avLst>
              <a:gd name="adj" fmla="val 20000"/>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749808" y="3163824"/>
            <a:ext cx="237744" cy="237744"/>
          </a:xfrm>
          <a:prstGeom prst="rect">
            <a:avLst/>
          </a:prstGeom>
        </p:spPr>
      </p:pic>
      <p:sp>
        <p:nvSpPr>
          <p:cNvPr id="16" name="Text 11"/>
          <p:cNvSpPr txBox="1"/>
          <p:nvPr/>
        </p:nvSpPr>
        <p:spPr>
          <a:xfrm>
            <a:off x="1280160" y="2916936"/>
            <a:ext cx="2926080" cy="73152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Invalid input (empty, &gt; 2000 chars)</a:t>
            </a:r>
            <a:endParaRPr lang="en-US" sz="1300" dirty="0"/>
          </a:p>
        </p:txBody>
      </p:sp>
      <p:sp>
        <p:nvSpPr>
          <p:cNvPr id="17" name="Text 12"/>
          <p:cNvSpPr txBox="1"/>
          <p:nvPr/>
        </p:nvSpPr>
        <p:spPr>
          <a:xfrm>
            <a:off x="4389120" y="2916936"/>
            <a:ext cx="4114800" cy="731520"/>
          </a:xfrm>
          <a:prstGeom prst="rect">
            <a:avLst/>
          </a:prstGeom>
          <a:noFill/>
          <a:ln/>
        </p:spPr>
        <p:txBody>
          <a:bodyPr wrap="square" lIns="0" tIns="0" rIns="0" bIns="0" rtlCol="0" anchor="ctr"/>
          <a:lstStyle/>
          <a:p>
            <a:pPr indent="0" marL="0">
              <a:buNone/>
            </a:pPr>
            <a:r>
              <a:rPr lang="en-US" sz="1200" dirty="0">
                <a:solidFill>
                  <a:srgbClr val="5F6B7A"/>
                </a:solidFill>
                <a:latin typeface="Calibri" pitchFamily="34" charset="0"/>
                <a:ea typeface="Calibri" pitchFamily="34" charset="-122"/>
                <a:cs typeface="Calibri" pitchFamily="34" charset="-120"/>
              </a:rPr>
              <a:t>422, shown as a friendly message in the UI</a:t>
            </a:r>
            <a:endParaRPr lang="en-US" sz="1200" dirty="0"/>
          </a:p>
        </p:txBody>
      </p:sp>
      <p:sp>
        <p:nvSpPr>
          <p:cNvPr id="18" name="Shape 13"/>
          <p:cNvSpPr/>
          <p:nvPr/>
        </p:nvSpPr>
        <p:spPr>
          <a:xfrm>
            <a:off x="457200" y="3803904"/>
            <a:ext cx="8229600" cy="731520"/>
          </a:xfrm>
          <a:prstGeom prst="roundRect">
            <a:avLst>
              <a:gd name="adj" fmla="val 10000"/>
            </a:avLst>
          </a:prstGeom>
          <a:solidFill>
            <a:srgbClr val="FFFFFF"/>
          </a:solidFill>
          <a:ln w="12700">
            <a:solidFill>
              <a:srgbClr val="E1E7EC"/>
            </a:solidFill>
            <a:prstDash val="solid"/>
          </a:ln>
        </p:spPr>
      </p:sp>
      <p:sp>
        <p:nvSpPr>
          <p:cNvPr id="19" name="Shape 14"/>
          <p:cNvSpPr/>
          <p:nvPr/>
        </p:nvSpPr>
        <p:spPr>
          <a:xfrm>
            <a:off x="640080" y="3941064"/>
            <a:ext cx="457200" cy="457200"/>
          </a:xfrm>
          <a:prstGeom prst="roundRect">
            <a:avLst>
              <a:gd name="adj" fmla="val 20000"/>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749808" y="4050792"/>
            <a:ext cx="237744" cy="237744"/>
          </a:xfrm>
          <a:prstGeom prst="rect">
            <a:avLst/>
          </a:prstGeom>
        </p:spPr>
      </p:pic>
      <p:sp>
        <p:nvSpPr>
          <p:cNvPr id="21" name="Text 15"/>
          <p:cNvSpPr txBox="1"/>
          <p:nvPr/>
        </p:nvSpPr>
        <p:spPr>
          <a:xfrm>
            <a:off x="1280160" y="3803904"/>
            <a:ext cx="2926080" cy="73152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Stream dies mid-answer</a:t>
            </a:r>
            <a:endParaRPr lang="en-US" sz="1300" dirty="0"/>
          </a:p>
        </p:txBody>
      </p:sp>
      <p:sp>
        <p:nvSpPr>
          <p:cNvPr id="22" name="Text 16"/>
          <p:cNvSpPr txBox="1"/>
          <p:nvPr/>
        </p:nvSpPr>
        <p:spPr>
          <a:xfrm>
            <a:off x="4389120" y="3803904"/>
            <a:ext cx="4114800" cy="731520"/>
          </a:xfrm>
          <a:prstGeom prst="rect">
            <a:avLst/>
          </a:prstGeom>
          <a:noFill/>
          <a:ln/>
        </p:spPr>
        <p:txBody>
          <a:bodyPr wrap="square" lIns="0" tIns="0" rIns="0" bIns="0" rtlCol="0" anchor="ctr"/>
          <a:lstStyle/>
          <a:p>
            <a:pPr indent="0" marL="0">
              <a:buNone/>
            </a:pPr>
            <a:r>
              <a:rPr lang="en-US" sz="1200" dirty="0">
                <a:solidFill>
                  <a:srgbClr val="5F6B7A"/>
                </a:solidFill>
                <a:latin typeface="Calibri" pitchFamily="34" charset="0"/>
                <a:ea typeface="Calibri" pitchFamily="34" charset="-122"/>
                <a:cs typeface="Calibri" pitchFamily="34" charset="-120"/>
              </a:rPr>
              <a:t>Partial text kept; missing trailer tells the UI to show "(response interrupted)"</a:t>
            </a:r>
            <a:endParaRPr lang="en-US" sz="1200" dirty="0"/>
          </a:p>
        </p:txBody>
      </p:sp>
      <p:sp>
        <p:nvSpPr>
          <p:cNvPr id="23" name="Text 17"/>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The chat interface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5F6B7A"/>
                </a:solidFill>
                <a:latin typeface="Calibri" pitchFamily="34" charset="0"/>
                <a:ea typeface="Calibri" pitchFamily="34" charset="-122"/>
                <a:cs typeface="Calibri" pitchFamily="34" charset="-120"/>
              </a:rPr>
              <a:t>Single-page Next.js app, light and dark themes</a:t>
            </a:r>
            <a:endParaRPr lang="en-US" sz="1400" dirty="0"/>
          </a:p>
        </p:txBody>
      </p:sp>
      <p:sp>
        <p:nvSpPr>
          <p:cNvPr id="4" name="Shape 2"/>
          <p:cNvSpPr/>
          <p:nvPr/>
        </p:nvSpPr>
        <p:spPr>
          <a:xfrm>
            <a:off x="457200" y="1280160"/>
            <a:ext cx="4206240" cy="3429000"/>
          </a:xfrm>
          <a:prstGeom prst="roundRect">
            <a:avLst>
              <a:gd name="adj" fmla="val 2667"/>
            </a:avLst>
          </a:prstGeom>
          <a:solidFill>
            <a:srgbClr val="F4F6F9"/>
          </a:solidFill>
          <a:ln w="12700">
            <a:solidFill>
              <a:srgbClr val="DDE3EA"/>
            </a:solidFill>
            <a:prstDash val="solid"/>
          </a:ln>
        </p:spPr>
      </p:sp>
      <p:sp>
        <p:nvSpPr>
          <p:cNvPr id="5" name="Text 3"/>
          <p:cNvSpPr txBox="1"/>
          <p:nvPr/>
        </p:nvSpPr>
        <p:spPr>
          <a:xfrm>
            <a:off x="640080" y="1371600"/>
            <a:ext cx="2743200" cy="320040"/>
          </a:xfrm>
          <a:prstGeom prst="rect">
            <a:avLst/>
          </a:prstGeom>
          <a:noFill/>
          <a:ln/>
        </p:spPr>
        <p:txBody>
          <a:bodyPr wrap="square" lIns="0" tIns="0" rIns="0" bIns="0" rtlCol="0" anchor="ctr"/>
          <a:lstStyle/>
          <a:p>
            <a:pPr indent="0" marL="0">
              <a:buNone/>
            </a:pPr>
            <a:r>
              <a:rPr lang="en-US" sz="1200" b="1" dirty="0">
                <a:solidFill>
                  <a:srgbClr val="1C2430"/>
                </a:solidFill>
                <a:latin typeface="Arial" pitchFamily="34" charset="0"/>
                <a:ea typeface="Arial" pitchFamily="34" charset="-122"/>
                <a:cs typeface="Arial" pitchFamily="34" charset="-120"/>
              </a:rPr>
              <a:t>IT Support Assistant</a:t>
            </a:r>
            <a:endParaRPr lang="en-US" sz="1200" dirty="0"/>
          </a:p>
        </p:txBody>
      </p:sp>
      <p:sp>
        <p:nvSpPr>
          <p:cNvPr id="6" name="Text 4"/>
          <p:cNvSpPr txBox="1"/>
          <p:nvPr/>
        </p:nvSpPr>
        <p:spPr>
          <a:xfrm>
            <a:off x="3566160" y="1389888"/>
            <a:ext cx="914400" cy="274320"/>
          </a:xfrm>
          <a:prstGeom prst="rect">
            <a:avLst/>
          </a:prstGeom>
          <a:noFill/>
          <a:ln/>
        </p:spPr>
        <p:txBody>
          <a:bodyPr wrap="square" lIns="0" tIns="0" rIns="0" bIns="0" rtlCol="0" anchor="ctr"/>
          <a:lstStyle/>
          <a:p>
            <a:pPr algn="r" indent="0" marL="0">
              <a:buNone/>
            </a:pPr>
            <a:r>
              <a:rPr lang="en-US" sz="900" dirty="0">
                <a:solidFill>
                  <a:srgbClr val="647083"/>
                </a:solidFill>
                <a:latin typeface="Calibri" pitchFamily="34" charset="0"/>
                <a:ea typeface="Calibri" pitchFamily="34" charset="-122"/>
                <a:cs typeface="Calibri" pitchFamily="34" charset="-120"/>
              </a:rPr>
              <a:t>Clear chat</a:t>
            </a:r>
            <a:endParaRPr lang="en-US" sz="900" dirty="0"/>
          </a:p>
        </p:txBody>
      </p:sp>
      <p:sp>
        <p:nvSpPr>
          <p:cNvPr id="7" name="Shape 5"/>
          <p:cNvSpPr/>
          <p:nvPr/>
        </p:nvSpPr>
        <p:spPr>
          <a:xfrm>
            <a:off x="2377440" y="1828800"/>
            <a:ext cx="2103120" cy="411480"/>
          </a:xfrm>
          <a:prstGeom prst="roundRect">
            <a:avLst>
              <a:gd name="adj" fmla="val 17778"/>
            </a:avLst>
          </a:prstGeom>
          <a:solidFill>
            <a:srgbClr val="1F5FBF"/>
          </a:solidFill>
          <a:ln w="12700">
            <a:solidFill>
              <a:srgbClr val="1F5FBF"/>
            </a:solidFill>
            <a:prstDash val="solid"/>
          </a:ln>
        </p:spPr>
      </p:sp>
      <p:sp>
        <p:nvSpPr>
          <p:cNvPr id="8" name="Text 6"/>
          <p:cNvSpPr txBox="1"/>
          <p:nvPr/>
        </p:nvSpPr>
        <p:spPr>
          <a:xfrm>
            <a:off x="2423160" y="1828800"/>
            <a:ext cx="2011680" cy="411480"/>
          </a:xfrm>
          <a:prstGeom prst="rect">
            <a:avLst/>
          </a:prstGeom>
          <a:noFill/>
          <a:ln/>
        </p:spPr>
        <p:txBody>
          <a:bodyPr wrap="square" lIns="25400" tIns="25400" rIns="25400" bIns="25400" rtlCol="0" anchor="ctr"/>
          <a:lstStyle/>
          <a:p>
            <a:pPr indent="0" marL="0">
              <a:buNone/>
            </a:pPr>
            <a:r>
              <a:rPr lang="en-US" sz="950" dirty="0">
                <a:solidFill>
                  <a:srgbClr val="FFFFFF"/>
                </a:solidFill>
                <a:latin typeface="Calibri" pitchFamily="34" charset="0"/>
                <a:ea typeface="Calibri" pitchFamily="34" charset="-122"/>
                <a:cs typeface="Calibri" pitchFamily="34" charset="-120"/>
              </a:rPr>
              <a:t>My Wi-Fi keeps dropping on Windows 11</a:t>
            </a:r>
            <a:endParaRPr lang="en-US" sz="950" dirty="0"/>
          </a:p>
        </p:txBody>
      </p:sp>
      <p:sp>
        <p:nvSpPr>
          <p:cNvPr id="9" name="Shape 7"/>
          <p:cNvSpPr/>
          <p:nvPr/>
        </p:nvSpPr>
        <p:spPr>
          <a:xfrm>
            <a:off x="640080" y="2377440"/>
            <a:ext cx="3108960" cy="1371600"/>
          </a:xfrm>
          <a:prstGeom prst="roundRect">
            <a:avLst>
              <a:gd name="adj" fmla="val 5333"/>
            </a:avLst>
          </a:prstGeom>
          <a:solidFill>
            <a:srgbClr val="FFFFFF"/>
          </a:solidFill>
          <a:ln w="12700">
            <a:solidFill>
              <a:srgbClr val="DDE3EA"/>
            </a:solidFill>
            <a:prstDash val="solid"/>
          </a:ln>
        </p:spPr>
      </p:sp>
      <p:sp>
        <p:nvSpPr>
          <p:cNvPr id="10" name="Text 8"/>
          <p:cNvSpPr txBox="1"/>
          <p:nvPr/>
        </p:nvSpPr>
        <p:spPr>
          <a:xfrm>
            <a:off x="731520" y="2423160"/>
            <a:ext cx="2926080" cy="1280160"/>
          </a:xfrm>
          <a:prstGeom prst="rect">
            <a:avLst/>
          </a:prstGeom>
          <a:noFill/>
          <a:ln/>
        </p:spPr>
        <p:txBody>
          <a:bodyPr wrap="square" lIns="25400" tIns="25400" rIns="25400" bIns="25400" rtlCol="0" anchor="t"/>
          <a:lstStyle/>
          <a:p>
            <a:pPr indent="0" marL="0">
              <a:buNone/>
            </a:pPr>
            <a:r>
              <a:rPr lang="en-US" sz="950" dirty="0">
                <a:solidFill>
                  <a:srgbClr val="1C2430"/>
                </a:solidFill>
                <a:latin typeface="Calibri" pitchFamily="34" charset="0"/>
                <a:ea typeface="Calibri" pitchFamily="34" charset="-122"/>
                <a:cs typeface="Calibri" pitchFamily="34" charset="-120"/>
              </a:rPr>
              <a:t>Try renewing your IP address:</a:t>
            </a:r>
            <a:endParaRPr lang="en-US" sz="950" dirty="0"/>
          </a:p>
          <a:p>
            <a:pPr indent="0" marL="0">
              <a:buNone/>
            </a:pPr>
            <a:r>
              <a:rPr lang="en-US" sz="950" dirty="0">
                <a:solidFill>
                  <a:srgbClr val="1C2430"/>
                </a:solidFill>
                <a:latin typeface="Calibri" pitchFamily="34" charset="0"/>
                <a:ea typeface="Calibri" pitchFamily="34" charset="-122"/>
                <a:cs typeface="Calibri" pitchFamily="34" charset="-120"/>
              </a:rPr>
              <a:t>1. Open Command Prompt</a:t>
            </a:r>
            <a:endParaRPr lang="en-US" sz="950" dirty="0"/>
          </a:p>
          <a:p>
            <a:pPr indent="0" marL="0">
              <a:buNone/>
            </a:pPr>
            <a:r>
              <a:rPr lang="en-US" sz="950" dirty="0">
                <a:solidFill>
                  <a:srgbClr val="1C2430"/>
                </a:solidFill>
                <a:latin typeface="Calibri" pitchFamily="34" charset="0"/>
                <a:ea typeface="Calibri" pitchFamily="34" charset="-122"/>
                <a:cs typeface="Calibri" pitchFamily="34" charset="-120"/>
              </a:rPr>
              <a:t>2. Run ipconfig /release</a:t>
            </a:r>
            <a:endParaRPr lang="en-US" sz="950" dirty="0"/>
          </a:p>
          <a:p>
            <a:pPr indent="0" marL="0">
              <a:buNone/>
            </a:pPr>
            <a:r>
              <a:rPr lang="en-US" sz="950" dirty="0">
                <a:solidFill>
                  <a:srgbClr val="1C2430"/>
                </a:solidFill>
                <a:latin typeface="Calibri" pitchFamily="34" charset="0"/>
                <a:ea typeface="Calibri" pitchFamily="34" charset="-122"/>
                <a:cs typeface="Calibri" pitchFamily="34" charset="-120"/>
              </a:rPr>
              <a:t>3. Run ipconfig /renew …</a:t>
            </a:r>
            <a:endParaRPr lang="en-US" sz="950" dirty="0"/>
          </a:p>
          <a:p>
            <a:pPr indent="0" marL="0">
              <a:buNone/>
            </a:pPr>
            <a:r>
              <a:rPr lang="en-US" sz="850" i="1" dirty="0">
                <a:solidFill>
                  <a:srgbClr val="647083"/>
                </a:solidFill>
                <a:latin typeface="Calibri" pitchFamily="34" charset="0"/>
                <a:ea typeface="Calibri" pitchFamily="34" charset="-122"/>
                <a:cs typeface="Calibri" pitchFamily="34" charset="-120"/>
              </a:rPr>
              <a:t>Sources: windows/network-reset.md</a:t>
            </a:r>
            <a:endParaRPr lang="en-US" sz="950" dirty="0"/>
          </a:p>
        </p:txBody>
      </p:sp>
      <p:sp>
        <p:nvSpPr>
          <p:cNvPr id="11" name="Shape 9"/>
          <p:cNvSpPr/>
          <p:nvPr/>
        </p:nvSpPr>
        <p:spPr>
          <a:xfrm>
            <a:off x="640080" y="4023360"/>
            <a:ext cx="3840480" cy="502920"/>
          </a:xfrm>
          <a:prstGeom prst="roundRect">
            <a:avLst>
              <a:gd name="adj" fmla="val 14545"/>
            </a:avLst>
          </a:prstGeom>
          <a:solidFill>
            <a:srgbClr val="FFFFFF"/>
          </a:solidFill>
          <a:ln w="12700">
            <a:solidFill>
              <a:srgbClr val="DDE3EA"/>
            </a:solidFill>
            <a:prstDash val="solid"/>
          </a:ln>
        </p:spPr>
      </p:sp>
      <p:sp>
        <p:nvSpPr>
          <p:cNvPr id="12" name="Text 10"/>
          <p:cNvSpPr txBox="1"/>
          <p:nvPr/>
        </p:nvSpPr>
        <p:spPr>
          <a:xfrm>
            <a:off x="777240" y="4023360"/>
            <a:ext cx="2743200" cy="502920"/>
          </a:xfrm>
          <a:prstGeom prst="rect">
            <a:avLst/>
          </a:prstGeom>
          <a:noFill/>
          <a:ln/>
        </p:spPr>
        <p:txBody>
          <a:bodyPr wrap="square" lIns="0" tIns="0" rIns="0" bIns="0" rtlCol="0" anchor="ctr"/>
          <a:lstStyle/>
          <a:p>
            <a:pPr indent="0" marL="0">
              <a:buNone/>
            </a:pPr>
            <a:r>
              <a:rPr lang="en-US" sz="1000" dirty="0">
                <a:solidFill>
                  <a:srgbClr val="97A3B4"/>
                </a:solidFill>
                <a:latin typeface="Calibri" pitchFamily="34" charset="0"/>
                <a:ea typeface="Calibri" pitchFamily="34" charset="-122"/>
                <a:cs typeface="Calibri" pitchFamily="34" charset="-120"/>
              </a:rPr>
              <a:t>Ask an IT question…</a:t>
            </a:r>
            <a:endParaRPr lang="en-US" sz="1000" dirty="0"/>
          </a:p>
        </p:txBody>
      </p:sp>
      <p:sp>
        <p:nvSpPr>
          <p:cNvPr id="13" name="Shape 11"/>
          <p:cNvSpPr/>
          <p:nvPr/>
        </p:nvSpPr>
        <p:spPr>
          <a:xfrm>
            <a:off x="5029200" y="1325880"/>
            <a:ext cx="411480" cy="411480"/>
          </a:xfrm>
          <a:prstGeom prst="roundRect">
            <a:avLst>
              <a:gd name="adj" fmla="val 22222"/>
            </a:avLst>
          </a:prstGeom>
          <a:solidFill>
            <a:srgbClr val="14897C"/>
          </a:solidFill>
          <a:ln w="12700">
            <a:solidFill>
              <a:srgbClr val="14897C"/>
            </a:solidFill>
            <a:prstDash val="solid"/>
          </a:ln>
        </p:spPr>
      </p:sp>
      <p:pic>
        <p:nvPicPr>
          <p:cNvPr id="14" name="Image 0" descr="preencoded.png">    </p:cNvPr>
          <p:cNvPicPr>
            <a:picLocks noChangeAspect="1"/>
          </p:cNvPicPr>
          <p:nvPr/>
        </p:nvPicPr>
        <p:blipFill>
          <a:blip r:embed="rId1"/>
          <a:stretch>
            <a:fillRect/>
          </a:stretch>
        </p:blipFill>
        <p:spPr>
          <a:xfrm>
            <a:off x="5127955" y="1424635"/>
            <a:ext cx="213970" cy="213970"/>
          </a:xfrm>
          <a:prstGeom prst="rect">
            <a:avLst/>
          </a:prstGeom>
        </p:spPr>
      </p:pic>
      <p:sp>
        <p:nvSpPr>
          <p:cNvPr id="15" name="Text 12"/>
          <p:cNvSpPr txBox="1"/>
          <p:nvPr/>
        </p:nvSpPr>
        <p:spPr>
          <a:xfrm>
            <a:off x="5623560" y="1325880"/>
            <a:ext cx="3108960" cy="411480"/>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Live token streaming with a typing indicator</a:t>
            </a:r>
            <a:endParaRPr lang="en-US" sz="1300" dirty="0"/>
          </a:p>
        </p:txBody>
      </p:sp>
      <p:sp>
        <p:nvSpPr>
          <p:cNvPr id="16" name="Shape 13"/>
          <p:cNvSpPr/>
          <p:nvPr/>
        </p:nvSpPr>
        <p:spPr>
          <a:xfrm>
            <a:off x="5029200" y="1993392"/>
            <a:ext cx="411480" cy="411480"/>
          </a:xfrm>
          <a:prstGeom prst="roundRect">
            <a:avLst>
              <a:gd name="adj" fmla="val 22222"/>
            </a:avLst>
          </a:prstGeom>
          <a:solidFill>
            <a:srgbClr val="14897C"/>
          </a:solidFill>
          <a:ln w="12700">
            <a:solidFill>
              <a:srgbClr val="14897C"/>
            </a:solidFill>
            <a:prstDash val="solid"/>
          </a:ln>
        </p:spPr>
      </p:sp>
      <p:pic>
        <p:nvPicPr>
          <p:cNvPr id="17" name="Image 1" descr="preencoded.png">    </p:cNvPr>
          <p:cNvPicPr>
            <a:picLocks noChangeAspect="1"/>
          </p:cNvPicPr>
          <p:nvPr/>
        </p:nvPicPr>
        <p:blipFill>
          <a:blip r:embed="rId2"/>
          <a:stretch>
            <a:fillRect/>
          </a:stretch>
        </p:blipFill>
        <p:spPr>
          <a:xfrm>
            <a:off x="5127955" y="2092147"/>
            <a:ext cx="213970" cy="213970"/>
          </a:xfrm>
          <a:prstGeom prst="rect">
            <a:avLst/>
          </a:prstGeom>
        </p:spPr>
      </p:pic>
      <p:sp>
        <p:nvSpPr>
          <p:cNvPr id="18" name="Text 14"/>
          <p:cNvSpPr txBox="1"/>
          <p:nvPr/>
        </p:nvSpPr>
        <p:spPr>
          <a:xfrm>
            <a:off x="5623560" y="1993392"/>
            <a:ext cx="3108960" cy="411480"/>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Numbered steps, lists and code rendered cleanly</a:t>
            </a:r>
            <a:endParaRPr lang="en-US" sz="1300" dirty="0"/>
          </a:p>
        </p:txBody>
      </p:sp>
      <p:sp>
        <p:nvSpPr>
          <p:cNvPr id="19" name="Shape 15"/>
          <p:cNvSpPr/>
          <p:nvPr/>
        </p:nvSpPr>
        <p:spPr>
          <a:xfrm>
            <a:off x="5029200" y="2660904"/>
            <a:ext cx="411480" cy="411480"/>
          </a:xfrm>
          <a:prstGeom prst="roundRect">
            <a:avLst>
              <a:gd name="adj" fmla="val 22222"/>
            </a:avLst>
          </a:prstGeom>
          <a:solidFill>
            <a:srgbClr val="14897C"/>
          </a:solidFill>
          <a:ln w="12700">
            <a:solidFill>
              <a:srgbClr val="14897C"/>
            </a:solidFill>
            <a:prstDash val="solid"/>
          </a:ln>
        </p:spPr>
      </p:sp>
      <p:pic>
        <p:nvPicPr>
          <p:cNvPr id="20" name="Image 2" descr="preencoded.png">    </p:cNvPr>
          <p:cNvPicPr>
            <a:picLocks noChangeAspect="1"/>
          </p:cNvPicPr>
          <p:nvPr/>
        </p:nvPicPr>
        <p:blipFill>
          <a:blip r:embed="rId3"/>
          <a:stretch>
            <a:fillRect/>
          </a:stretch>
        </p:blipFill>
        <p:spPr>
          <a:xfrm>
            <a:off x="5127955" y="2759659"/>
            <a:ext cx="213970" cy="213970"/>
          </a:xfrm>
          <a:prstGeom prst="rect">
            <a:avLst/>
          </a:prstGeom>
        </p:spPr>
      </p:pic>
      <p:sp>
        <p:nvSpPr>
          <p:cNvPr id="21" name="Text 16"/>
          <p:cNvSpPr txBox="1"/>
          <p:nvPr/>
        </p:nvSpPr>
        <p:spPr>
          <a:xfrm>
            <a:off x="5623560" y="2660904"/>
            <a:ext cx="3108960" cy="411480"/>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Knowledge-base sources shown under each answer</a:t>
            </a:r>
            <a:endParaRPr lang="en-US" sz="1300" dirty="0"/>
          </a:p>
        </p:txBody>
      </p:sp>
      <p:sp>
        <p:nvSpPr>
          <p:cNvPr id="22" name="Shape 17"/>
          <p:cNvSpPr/>
          <p:nvPr/>
        </p:nvSpPr>
        <p:spPr>
          <a:xfrm>
            <a:off x="5029200" y="3328416"/>
            <a:ext cx="411480" cy="411480"/>
          </a:xfrm>
          <a:prstGeom prst="roundRect">
            <a:avLst>
              <a:gd name="adj" fmla="val 22222"/>
            </a:avLst>
          </a:prstGeom>
          <a:solidFill>
            <a:srgbClr val="14897C"/>
          </a:solidFill>
          <a:ln w="12700">
            <a:solidFill>
              <a:srgbClr val="14897C"/>
            </a:solidFill>
            <a:prstDash val="solid"/>
          </a:ln>
        </p:spPr>
      </p:sp>
      <p:pic>
        <p:nvPicPr>
          <p:cNvPr id="23" name="Image 3" descr="preencoded.png">    </p:cNvPr>
          <p:cNvPicPr>
            <a:picLocks noChangeAspect="1"/>
          </p:cNvPicPr>
          <p:nvPr/>
        </p:nvPicPr>
        <p:blipFill>
          <a:blip r:embed="rId4"/>
          <a:stretch>
            <a:fillRect/>
          </a:stretch>
        </p:blipFill>
        <p:spPr>
          <a:xfrm>
            <a:off x="5127955" y="3427171"/>
            <a:ext cx="213970" cy="213970"/>
          </a:xfrm>
          <a:prstGeom prst="rect">
            <a:avLst/>
          </a:prstGeom>
        </p:spPr>
      </p:pic>
      <p:sp>
        <p:nvSpPr>
          <p:cNvPr id="24" name="Text 18"/>
          <p:cNvSpPr txBox="1"/>
          <p:nvPr/>
        </p:nvSpPr>
        <p:spPr>
          <a:xfrm>
            <a:off x="5623560" y="3328416"/>
            <a:ext cx="3108960" cy="411480"/>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Enter to send, Shift+Enter for a new line</a:t>
            </a:r>
            <a:endParaRPr lang="en-US" sz="1300" dirty="0"/>
          </a:p>
        </p:txBody>
      </p:sp>
      <p:sp>
        <p:nvSpPr>
          <p:cNvPr id="25" name="Shape 19"/>
          <p:cNvSpPr/>
          <p:nvPr/>
        </p:nvSpPr>
        <p:spPr>
          <a:xfrm>
            <a:off x="5029200" y="3995928"/>
            <a:ext cx="411480" cy="411480"/>
          </a:xfrm>
          <a:prstGeom prst="roundRect">
            <a:avLst>
              <a:gd name="adj" fmla="val 22222"/>
            </a:avLst>
          </a:prstGeom>
          <a:solidFill>
            <a:srgbClr val="14897C"/>
          </a:solidFill>
          <a:ln w="12700">
            <a:solidFill>
              <a:srgbClr val="14897C"/>
            </a:solidFill>
            <a:prstDash val="solid"/>
          </a:ln>
        </p:spPr>
      </p:sp>
      <p:pic>
        <p:nvPicPr>
          <p:cNvPr id="26" name="Image 4" descr="preencoded.png">    </p:cNvPr>
          <p:cNvPicPr>
            <a:picLocks noChangeAspect="1"/>
          </p:cNvPicPr>
          <p:nvPr/>
        </p:nvPicPr>
        <p:blipFill>
          <a:blip r:embed="rId5"/>
          <a:stretch>
            <a:fillRect/>
          </a:stretch>
        </p:blipFill>
        <p:spPr>
          <a:xfrm>
            <a:off x="5127955" y="4094683"/>
            <a:ext cx="213970" cy="213970"/>
          </a:xfrm>
          <a:prstGeom prst="rect">
            <a:avLst/>
          </a:prstGeom>
        </p:spPr>
      </p:pic>
      <p:sp>
        <p:nvSpPr>
          <p:cNvPr id="27" name="Text 20"/>
          <p:cNvSpPr txBox="1"/>
          <p:nvPr/>
        </p:nvSpPr>
        <p:spPr>
          <a:xfrm>
            <a:off x="5623560" y="3995928"/>
            <a:ext cx="3108960" cy="411480"/>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Clear chat; history kept in React state only</a:t>
            </a:r>
            <a:endParaRPr lang="en-US" sz="1300" dirty="0"/>
          </a:p>
        </p:txBody>
      </p:sp>
      <p:sp>
        <p:nvSpPr>
          <p:cNvPr id="28" name="Text 21"/>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12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Testing</a:t>
            </a:r>
            <a:endParaRPr lang="en-US" sz="2800" dirty="0"/>
          </a:p>
        </p:txBody>
      </p:sp>
      <p:sp>
        <p:nvSpPr>
          <p:cNvPr id="3" name="Text 1"/>
          <p:cNvSpPr txBox="1"/>
          <p:nvPr/>
        </p:nvSpPr>
        <p:spPr>
          <a:xfrm>
            <a:off x="457200" y="1097280"/>
            <a:ext cx="2560320" cy="731520"/>
          </a:xfrm>
          <a:prstGeom prst="rect">
            <a:avLst/>
          </a:prstGeom>
          <a:noFill/>
          <a:ln/>
        </p:spPr>
        <p:txBody>
          <a:bodyPr wrap="square" lIns="0" tIns="0" rIns="0" bIns="0" rtlCol="0" anchor="ctr"/>
          <a:lstStyle/>
          <a:p>
            <a:pPr indent="0" marL="0">
              <a:buNone/>
            </a:pPr>
            <a:r>
              <a:rPr lang="en-US" sz="4800" b="1" dirty="0">
                <a:solidFill>
                  <a:srgbClr val="5CC8B8"/>
                </a:solidFill>
                <a:latin typeface="Arial" pitchFamily="34" charset="0"/>
                <a:ea typeface="Arial" pitchFamily="34" charset="-122"/>
                <a:cs typeface="Arial" pitchFamily="34" charset="-120"/>
              </a:rPr>
              <a:t>73</a:t>
            </a:r>
            <a:endParaRPr lang="en-US" sz="4800" dirty="0"/>
          </a:p>
        </p:txBody>
      </p:sp>
      <p:sp>
        <p:nvSpPr>
          <p:cNvPr id="4" name="Text 2"/>
          <p:cNvSpPr txBox="1"/>
          <p:nvPr/>
        </p:nvSpPr>
        <p:spPr>
          <a:xfrm>
            <a:off x="457200" y="1783080"/>
            <a:ext cx="2560320" cy="274320"/>
          </a:xfrm>
          <a:prstGeom prst="rect">
            <a:avLst/>
          </a:prstGeom>
          <a:noFill/>
          <a:ln/>
        </p:spPr>
        <p:txBody>
          <a:bodyPr wrap="square" lIns="0" tIns="0" rIns="0" bIns="0" rtlCol="0" anchor="ctr"/>
          <a:lstStyle/>
          <a:p>
            <a:pPr indent="0" marL="0">
              <a:buNone/>
            </a:pPr>
            <a:r>
              <a:rPr lang="en-US" sz="1300" dirty="0">
                <a:solidFill>
                  <a:srgbClr val="BFD3DC"/>
                </a:solidFill>
                <a:latin typeface="Calibri" pitchFamily="34" charset="0"/>
                <a:ea typeface="Calibri" pitchFamily="34" charset="-122"/>
                <a:cs typeface="Calibri" pitchFamily="34" charset="-120"/>
              </a:rPr>
              <a:t>test functions</a:t>
            </a:r>
            <a:endParaRPr lang="en-US" sz="1300" dirty="0"/>
          </a:p>
        </p:txBody>
      </p:sp>
      <p:sp>
        <p:nvSpPr>
          <p:cNvPr id="5" name="Text 3"/>
          <p:cNvSpPr txBox="1"/>
          <p:nvPr/>
        </p:nvSpPr>
        <p:spPr>
          <a:xfrm>
            <a:off x="457200" y="2286000"/>
            <a:ext cx="2560320" cy="731520"/>
          </a:xfrm>
          <a:prstGeom prst="rect">
            <a:avLst/>
          </a:prstGeom>
          <a:noFill/>
          <a:ln/>
        </p:spPr>
        <p:txBody>
          <a:bodyPr wrap="square" lIns="0" tIns="0" rIns="0" bIns="0" rtlCol="0" anchor="ctr"/>
          <a:lstStyle/>
          <a:p>
            <a:pPr indent="0" marL="0">
              <a:buNone/>
            </a:pPr>
            <a:r>
              <a:rPr lang="en-US" sz="4800" b="1" dirty="0">
                <a:solidFill>
                  <a:srgbClr val="5CC8B8"/>
                </a:solidFill>
                <a:latin typeface="Arial" pitchFamily="34" charset="0"/>
                <a:ea typeface="Arial" pitchFamily="34" charset="-122"/>
                <a:cs typeface="Arial" pitchFamily="34" charset="-120"/>
              </a:rPr>
              <a:t>11</a:t>
            </a:r>
            <a:endParaRPr lang="en-US" sz="4800" dirty="0"/>
          </a:p>
        </p:txBody>
      </p:sp>
      <p:sp>
        <p:nvSpPr>
          <p:cNvPr id="6" name="Text 4"/>
          <p:cNvSpPr txBox="1"/>
          <p:nvPr/>
        </p:nvSpPr>
        <p:spPr>
          <a:xfrm>
            <a:off x="457200" y="2971800"/>
            <a:ext cx="2560320" cy="274320"/>
          </a:xfrm>
          <a:prstGeom prst="rect">
            <a:avLst/>
          </a:prstGeom>
          <a:noFill/>
          <a:ln/>
        </p:spPr>
        <p:txBody>
          <a:bodyPr wrap="square" lIns="0" tIns="0" rIns="0" bIns="0" rtlCol="0" anchor="ctr"/>
          <a:lstStyle/>
          <a:p>
            <a:pPr indent="0" marL="0">
              <a:buNone/>
            </a:pPr>
            <a:r>
              <a:rPr lang="en-US" sz="1300" dirty="0">
                <a:solidFill>
                  <a:srgbClr val="BFD3DC"/>
                </a:solidFill>
                <a:latin typeface="Calibri" pitchFamily="34" charset="0"/>
                <a:ea typeface="Calibri" pitchFamily="34" charset="-122"/>
                <a:cs typeface="Calibri" pitchFamily="34" charset="-120"/>
              </a:rPr>
              <a:t>test files</a:t>
            </a:r>
            <a:endParaRPr lang="en-US" sz="1300" dirty="0"/>
          </a:p>
        </p:txBody>
      </p:sp>
      <p:sp>
        <p:nvSpPr>
          <p:cNvPr id="7" name="Text 5"/>
          <p:cNvSpPr txBox="1"/>
          <p:nvPr/>
        </p:nvSpPr>
        <p:spPr>
          <a:xfrm>
            <a:off x="457200" y="3474720"/>
            <a:ext cx="2560320" cy="731520"/>
          </a:xfrm>
          <a:prstGeom prst="rect">
            <a:avLst/>
          </a:prstGeom>
          <a:noFill/>
          <a:ln/>
        </p:spPr>
        <p:txBody>
          <a:bodyPr wrap="square" lIns="0" tIns="0" rIns="0" bIns="0" rtlCol="0" anchor="ctr"/>
          <a:lstStyle/>
          <a:p>
            <a:pPr indent="0" marL="0">
              <a:buNone/>
            </a:pPr>
            <a:r>
              <a:rPr lang="en-US" sz="4800" b="1" dirty="0">
                <a:solidFill>
                  <a:srgbClr val="F2A541"/>
                </a:solidFill>
                <a:latin typeface="Arial" pitchFamily="34" charset="0"/>
                <a:ea typeface="Arial" pitchFamily="34" charset="-122"/>
                <a:cs typeface="Arial" pitchFamily="34" charset="-120"/>
              </a:rPr>
              <a:t>0</a:t>
            </a:r>
            <a:endParaRPr lang="en-US" sz="4800" dirty="0"/>
          </a:p>
        </p:txBody>
      </p:sp>
      <p:sp>
        <p:nvSpPr>
          <p:cNvPr id="8" name="Text 6"/>
          <p:cNvSpPr txBox="1"/>
          <p:nvPr/>
        </p:nvSpPr>
        <p:spPr>
          <a:xfrm>
            <a:off x="457200" y="4160520"/>
            <a:ext cx="2560320" cy="274320"/>
          </a:xfrm>
          <a:prstGeom prst="rect">
            <a:avLst/>
          </a:prstGeom>
          <a:noFill/>
          <a:ln/>
        </p:spPr>
        <p:txBody>
          <a:bodyPr wrap="square" lIns="0" tIns="0" rIns="0" bIns="0" rtlCol="0" anchor="ctr"/>
          <a:lstStyle/>
          <a:p>
            <a:pPr indent="0" marL="0">
              <a:buNone/>
            </a:pPr>
            <a:r>
              <a:rPr lang="en-US" sz="1300" dirty="0">
                <a:solidFill>
                  <a:srgbClr val="BFD3DC"/>
                </a:solidFill>
                <a:latin typeface="Calibri" pitchFamily="34" charset="0"/>
                <a:ea typeface="Calibri" pitchFamily="34" charset="-122"/>
                <a:cs typeface="Calibri" pitchFamily="34" charset="-120"/>
              </a:rPr>
              <a:t>failures on last run</a:t>
            </a:r>
            <a:endParaRPr lang="en-US" sz="1300" dirty="0"/>
          </a:p>
        </p:txBody>
      </p:sp>
      <p:sp>
        <p:nvSpPr>
          <p:cNvPr id="9" name="Shape 7"/>
          <p:cNvSpPr/>
          <p:nvPr/>
        </p:nvSpPr>
        <p:spPr>
          <a:xfrm>
            <a:off x="3200400" y="1005840"/>
            <a:ext cx="5486400" cy="3657600"/>
          </a:xfrm>
          <a:prstGeom prst="roundRect">
            <a:avLst>
              <a:gd name="adj" fmla="val 2000"/>
            </a:avLst>
          </a:prstGeom>
          <a:solidFill>
            <a:srgbClr val="183240"/>
          </a:solidFill>
          <a:ln w="12700">
            <a:solidFill>
              <a:srgbClr val="183240"/>
            </a:solidFill>
            <a:prstDash val="solid"/>
          </a:ln>
        </p:spPr>
      </p:sp>
      <p:graphicFrame>
        <p:nvGraphicFramePr>
          <p:cNvPr id="10" name="Chart 0" descr=""/>
          <p:cNvGraphicFramePr/>
          <p:nvPr/>
        </p:nvGraphicFramePr>
        <p:xfrm>
          <a:off x="3291840" y="109728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8FA3B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Live demo</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5F6B7A"/>
                </a:solidFill>
                <a:latin typeface="Calibri" pitchFamily="34" charset="0"/>
                <a:ea typeface="Calibri" pitchFamily="34" charset="-122"/>
                <a:cs typeface="Calibri" pitchFamily="34" charset="-120"/>
              </a:rPr>
              <a:t>Five questions that show each path through the system</a:t>
            </a:r>
            <a:endParaRPr lang="en-US" sz="1400" dirty="0"/>
          </a:p>
        </p:txBody>
      </p:sp>
      <p:sp>
        <p:nvSpPr>
          <p:cNvPr id="4" name="Shape 2"/>
          <p:cNvSpPr/>
          <p:nvPr/>
        </p:nvSpPr>
        <p:spPr>
          <a:xfrm>
            <a:off x="457200" y="1325880"/>
            <a:ext cx="4206240" cy="512064"/>
          </a:xfrm>
          <a:prstGeom prst="roundRect">
            <a:avLst>
              <a:gd name="adj" fmla="val 14286"/>
            </a:avLst>
          </a:prstGeom>
          <a:solidFill>
            <a:srgbClr val="D8F0EC"/>
          </a:solidFill>
          <a:ln w="12700">
            <a:solidFill>
              <a:srgbClr val="D8F0EC"/>
            </a:solidFill>
            <a:prstDash val="solid"/>
          </a:ln>
        </p:spPr>
      </p:sp>
      <p:sp>
        <p:nvSpPr>
          <p:cNvPr id="5" name="Text 3"/>
          <p:cNvSpPr txBox="1"/>
          <p:nvPr/>
        </p:nvSpPr>
        <p:spPr>
          <a:xfrm>
            <a:off x="640080" y="1325880"/>
            <a:ext cx="3931920" cy="512064"/>
          </a:xfrm>
          <a:prstGeom prst="rect">
            <a:avLst/>
          </a:prstGeom>
          <a:noFill/>
          <a:ln/>
        </p:spPr>
        <p:txBody>
          <a:bodyPr wrap="square" lIns="0" tIns="0" rIns="0" bIns="0" rtlCol="0" anchor="ctr"/>
          <a:lstStyle/>
          <a:p>
            <a:pPr indent="0" marL="0">
              <a:buNone/>
            </a:pPr>
            <a:r>
              <a:rPr lang="en-US" sz="1300" b="1" dirty="0">
                <a:solidFill>
                  <a:srgbClr val="1C2430"/>
                </a:solidFill>
                <a:latin typeface="Calibri" pitchFamily="34" charset="0"/>
                <a:ea typeface="Calibri" pitchFamily="34" charset="-122"/>
                <a:cs typeface="Calibri" pitchFamily="34" charset="-120"/>
              </a:rPr>
              <a:t>"Hello!"</a:t>
            </a:r>
            <a:endParaRPr lang="en-US" sz="1300" dirty="0"/>
          </a:p>
        </p:txBody>
      </p:sp>
      <p:sp>
        <p:nvSpPr>
          <p:cNvPr id="6" name="Text 4"/>
          <p:cNvSpPr txBox="1"/>
          <p:nvPr/>
        </p:nvSpPr>
        <p:spPr>
          <a:xfrm>
            <a:off x="4709160" y="1325880"/>
            <a:ext cx="365760" cy="512064"/>
          </a:xfrm>
          <a:prstGeom prst="rect">
            <a:avLst/>
          </a:prstGeom>
          <a:noFill/>
          <a:ln/>
        </p:spPr>
        <p:txBody>
          <a:bodyPr wrap="square" lIns="0" tIns="0" rIns="0" bIns="0" rtlCol="0" anchor="ctr"/>
          <a:lstStyle/>
          <a:p>
            <a:pPr algn="ctr" indent="0" marL="0">
              <a:buNone/>
            </a:pPr>
            <a:r>
              <a:rPr lang="en-US" sz="1800" dirty="0">
                <a:solidFill>
                  <a:srgbClr val="5F6B7A"/>
                </a:solidFill>
                <a:latin typeface="Calibri" pitchFamily="34" charset="0"/>
                <a:ea typeface="Calibri" pitchFamily="34" charset="-122"/>
                <a:cs typeface="Calibri" pitchFamily="34" charset="-120"/>
              </a:rPr>
              <a:t>→</a:t>
            </a:r>
            <a:endParaRPr lang="en-US" sz="1800" dirty="0"/>
          </a:p>
        </p:txBody>
      </p:sp>
      <p:sp>
        <p:nvSpPr>
          <p:cNvPr id="7" name="Text 5"/>
          <p:cNvSpPr txBox="1"/>
          <p:nvPr/>
        </p:nvSpPr>
        <p:spPr>
          <a:xfrm>
            <a:off x="5120640" y="1325880"/>
            <a:ext cx="3566160" cy="512064"/>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Canned greeting, no LLM call</a:t>
            </a:r>
            <a:endParaRPr lang="en-US" sz="1300" dirty="0"/>
          </a:p>
        </p:txBody>
      </p:sp>
      <p:sp>
        <p:nvSpPr>
          <p:cNvPr id="8" name="Shape 6"/>
          <p:cNvSpPr/>
          <p:nvPr/>
        </p:nvSpPr>
        <p:spPr>
          <a:xfrm>
            <a:off x="457200" y="1984248"/>
            <a:ext cx="4206240" cy="512064"/>
          </a:xfrm>
          <a:prstGeom prst="roundRect">
            <a:avLst>
              <a:gd name="adj" fmla="val 14286"/>
            </a:avLst>
          </a:prstGeom>
          <a:solidFill>
            <a:srgbClr val="D8F0EC"/>
          </a:solidFill>
          <a:ln w="12700">
            <a:solidFill>
              <a:srgbClr val="D8F0EC"/>
            </a:solidFill>
            <a:prstDash val="solid"/>
          </a:ln>
        </p:spPr>
      </p:sp>
      <p:sp>
        <p:nvSpPr>
          <p:cNvPr id="9" name="Text 7"/>
          <p:cNvSpPr txBox="1"/>
          <p:nvPr/>
        </p:nvSpPr>
        <p:spPr>
          <a:xfrm>
            <a:off x="640080" y="1984248"/>
            <a:ext cx="3931920" cy="512064"/>
          </a:xfrm>
          <a:prstGeom prst="rect">
            <a:avLst/>
          </a:prstGeom>
          <a:noFill/>
          <a:ln/>
        </p:spPr>
        <p:txBody>
          <a:bodyPr wrap="square" lIns="0" tIns="0" rIns="0" bIns="0" rtlCol="0" anchor="ctr"/>
          <a:lstStyle/>
          <a:p>
            <a:pPr indent="0" marL="0">
              <a:buNone/>
            </a:pPr>
            <a:r>
              <a:rPr lang="en-US" sz="1300" b="1" dirty="0">
                <a:solidFill>
                  <a:srgbClr val="1C2430"/>
                </a:solidFill>
                <a:latin typeface="Calibri" pitchFamily="34" charset="0"/>
                <a:ea typeface="Calibri" pitchFamily="34" charset="-122"/>
                <a:cs typeface="Calibri" pitchFamily="34" charset="-120"/>
              </a:rPr>
              <a:t>"My Wi-Fi keeps dropping on Windows 11"</a:t>
            </a:r>
            <a:endParaRPr lang="en-US" sz="1300" dirty="0"/>
          </a:p>
        </p:txBody>
      </p:sp>
      <p:sp>
        <p:nvSpPr>
          <p:cNvPr id="10" name="Text 8"/>
          <p:cNvSpPr txBox="1"/>
          <p:nvPr/>
        </p:nvSpPr>
        <p:spPr>
          <a:xfrm>
            <a:off x="4709160" y="1984248"/>
            <a:ext cx="365760" cy="512064"/>
          </a:xfrm>
          <a:prstGeom prst="rect">
            <a:avLst/>
          </a:prstGeom>
          <a:noFill/>
          <a:ln/>
        </p:spPr>
        <p:txBody>
          <a:bodyPr wrap="square" lIns="0" tIns="0" rIns="0" bIns="0" rtlCol="0" anchor="ctr"/>
          <a:lstStyle/>
          <a:p>
            <a:pPr algn="ctr" indent="0" marL="0">
              <a:buNone/>
            </a:pPr>
            <a:r>
              <a:rPr lang="en-US" sz="1800" dirty="0">
                <a:solidFill>
                  <a:srgbClr val="5F6B7A"/>
                </a:solidFill>
                <a:latin typeface="Calibri" pitchFamily="34" charset="0"/>
                <a:ea typeface="Calibri" pitchFamily="34" charset="-122"/>
                <a:cs typeface="Calibri" pitchFamily="34" charset="-120"/>
              </a:rPr>
              <a:t>→</a:t>
            </a:r>
            <a:endParaRPr lang="en-US" sz="1800" dirty="0"/>
          </a:p>
        </p:txBody>
      </p:sp>
      <p:sp>
        <p:nvSpPr>
          <p:cNvPr id="11" name="Text 9"/>
          <p:cNvSpPr txBox="1"/>
          <p:nvPr/>
        </p:nvSpPr>
        <p:spPr>
          <a:xfrm>
            <a:off x="5120640" y="1984248"/>
            <a:ext cx="3566160" cy="512064"/>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RAG answer in numbered steps, with sources</a:t>
            </a:r>
            <a:endParaRPr lang="en-US" sz="1300" dirty="0"/>
          </a:p>
        </p:txBody>
      </p:sp>
      <p:sp>
        <p:nvSpPr>
          <p:cNvPr id="12" name="Shape 10"/>
          <p:cNvSpPr/>
          <p:nvPr/>
        </p:nvSpPr>
        <p:spPr>
          <a:xfrm>
            <a:off x="457200" y="2642616"/>
            <a:ext cx="4206240" cy="512064"/>
          </a:xfrm>
          <a:prstGeom prst="roundRect">
            <a:avLst>
              <a:gd name="adj" fmla="val 14286"/>
            </a:avLst>
          </a:prstGeom>
          <a:solidFill>
            <a:srgbClr val="D8F0EC"/>
          </a:solidFill>
          <a:ln w="12700">
            <a:solidFill>
              <a:srgbClr val="D8F0EC"/>
            </a:solidFill>
            <a:prstDash val="solid"/>
          </a:ln>
        </p:spPr>
      </p:sp>
      <p:sp>
        <p:nvSpPr>
          <p:cNvPr id="13" name="Text 11"/>
          <p:cNvSpPr txBox="1"/>
          <p:nvPr/>
        </p:nvSpPr>
        <p:spPr>
          <a:xfrm>
            <a:off x="640080" y="2642616"/>
            <a:ext cx="3931920" cy="512064"/>
          </a:xfrm>
          <a:prstGeom prst="rect">
            <a:avLst/>
          </a:prstGeom>
          <a:noFill/>
          <a:ln/>
        </p:spPr>
        <p:txBody>
          <a:bodyPr wrap="square" lIns="0" tIns="0" rIns="0" bIns="0" rtlCol="0" anchor="ctr"/>
          <a:lstStyle/>
          <a:p>
            <a:pPr indent="0" marL="0">
              <a:buNone/>
            </a:pPr>
            <a:r>
              <a:rPr lang="en-US" sz="1300" b="1" dirty="0">
                <a:solidFill>
                  <a:srgbClr val="1C2430"/>
                </a:solidFill>
                <a:latin typeface="Calibri" pitchFamily="34" charset="0"/>
                <a:ea typeface="Calibri" pitchFamily="34" charset="-122"/>
                <a:cs typeface="Calibri" pitchFamily="34" charset="-120"/>
              </a:rPr>
              <a:t>"How much does Adobe Acrobat Pro cost?"</a:t>
            </a:r>
            <a:endParaRPr lang="en-US" sz="1300" dirty="0"/>
          </a:p>
        </p:txBody>
      </p:sp>
      <p:sp>
        <p:nvSpPr>
          <p:cNvPr id="14" name="Text 12"/>
          <p:cNvSpPr txBox="1"/>
          <p:nvPr/>
        </p:nvSpPr>
        <p:spPr>
          <a:xfrm>
            <a:off x="4709160" y="2642616"/>
            <a:ext cx="365760" cy="512064"/>
          </a:xfrm>
          <a:prstGeom prst="rect">
            <a:avLst/>
          </a:prstGeom>
          <a:noFill/>
          <a:ln/>
        </p:spPr>
        <p:txBody>
          <a:bodyPr wrap="square" lIns="0" tIns="0" rIns="0" bIns="0" rtlCol="0" anchor="ctr"/>
          <a:lstStyle/>
          <a:p>
            <a:pPr algn="ctr" indent="0" marL="0">
              <a:buNone/>
            </a:pPr>
            <a:r>
              <a:rPr lang="en-US" sz="1800" dirty="0">
                <a:solidFill>
                  <a:srgbClr val="5F6B7A"/>
                </a:solidFill>
                <a:latin typeface="Calibri" pitchFamily="34" charset="0"/>
                <a:ea typeface="Calibri" pitchFamily="34" charset="-122"/>
                <a:cs typeface="Calibri" pitchFamily="34" charset="-120"/>
              </a:rPr>
              <a:t>→</a:t>
            </a:r>
            <a:endParaRPr lang="en-US" sz="1800" dirty="0"/>
          </a:p>
        </p:txBody>
      </p:sp>
      <p:sp>
        <p:nvSpPr>
          <p:cNvPr id="15" name="Text 13"/>
          <p:cNvSpPr txBox="1"/>
          <p:nvPr/>
        </p:nvSpPr>
        <p:spPr>
          <a:xfrm>
            <a:off x="5120640" y="2642616"/>
            <a:ext cx="3566160" cy="512064"/>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$240/user/yr from the catalog; manager approval</a:t>
            </a:r>
            <a:endParaRPr lang="en-US" sz="1300" dirty="0"/>
          </a:p>
        </p:txBody>
      </p:sp>
      <p:sp>
        <p:nvSpPr>
          <p:cNvPr id="16" name="Shape 14"/>
          <p:cNvSpPr/>
          <p:nvPr/>
        </p:nvSpPr>
        <p:spPr>
          <a:xfrm>
            <a:off x="457200" y="3300984"/>
            <a:ext cx="4206240" cy="512064"/>
          </a:xfrm>
          <a:prstGeom prst="roundRect">
            <a:avLst>
              <a:gd name="adj" fmla="val 14286"/>
            </a:avLst>
          </a:prstGeom>
          <a:solidFill>
            <a:srgbClr val="D8F0EC"/>
          </a:solidFill>
          <a:ln w="12700">
            <a:solidFill>
              <a:srgbClr val="D8F0EC"/>
            </a:solidFill>
            <a:prstDash val="solid"/>
          </a:ln>
        </p:spPr>
      </p:sp>
      <p:sp>
        <p:nvSpPr>
          <p:cNvPr id="17" name="Text 15"/>
          <p:cNvSpPr txBox="1"/>
          <p:nvPr/>
        </p:nvSpPr>
        <p:spPr>
          <a:xfrm>
            <a:off x="640080" y="3300984"/>
            <a:ext cx="3931920" cy="512064"/>
          </a:xfrm>
          <a:prstGeom prst="rect">
            <a:avLst/>
          </a:prstGeom>
          <a:noFill/>
          <a:ln/>
        </p:spPr>
        <p:txBody>
          <a:bodyPr wrap="square" lIns="0" tIns="0" rIns="0" bIns="0" rtlCol="0" anchor="ctr"/>
          <a:lstStyle/>
          <a:p>
            <a:pPr indent="0" marL="0">
              <a:buNone/>
            </a:pPr>
            <a:r>
              <a:rPr lang="en-US" sz="1300" b="1" dirty="0">
                <a:solidFill>
                  <a:srgbClr val="1C2430"/>
                </a:solidFill>
                <a:latin typeface="Calibri" pitchFamily="34" charset="0"/>
                <a:ea typeface="Calibri" pitchFamily="34" charset="-122"/>
                <a:cs typeface="Calibri" pitchFamily="34" charset="-120"/>
              </a:rPr>
              <a:t>"Can I get an AutoCAD licence?"</a:t>
            </a:r>
            <a:endParaRPr lang="en-US" sz="1300" dirty="0"/>
          </a:p>
        </p:txBody>
      </p:sp>
      <p:sp>
        <p:nvSpPr>
          <p:cNvPr id="18" name="Text 16"/>
          <p:cNvSpPr txBox="1"/>
          <p:nvPr/>
        </p:nvSpPr>
        <p:spPr>
          <a:xfrm>
            <a:off x="4709160" y="3300984"/>
            <a:ext cx="365760" cy="512064"/>
          </a:xfrm>
          <a:prstGeom prst="rect">
            <a:avLst/>
          </a:prstGeom>
          <a:noFill/>
          <a:ln/>
        </p:spPr>
        <p:txBody>
          <a:bodyPr wrap="square" lIns="0" tIns="0" rIns="0" bIns="0" rtlCol="0" anchor="ctr"/>
          <a:lstStyle/>
          <a:p>
            <a:pPr algn="ctr" indent="0" marL="0">
              <a:buNone/>
            </a:pPr>
            <a:r>
              <a:rPr lang="en-US" sz="1800" dirty="0">
                <a:solidFill>
                  <a:srgbClr val="5F6B7A"/>
                </a:solidFill>
                <a:latin typeface="Calibri" pitchFamily="34" charset="0"/>
                <a:ea typeface="Calibri" pitchFamily="34" charset="-122"/>
                <a:cs typeface="Calibri" pitchFamily="34" charset="-120"/>
              </a:rPr>
              <a:t>→</a:t>
            </a:r>
            <a:endParaRPr lang="en-US" sz="1800" dirty="0"/>
          </a:p>
        </p:txBody>
      </p:sp>
      <p:sp>
        <p:nvSpPr>
          <p:cNvPr id="19" name="Text 17"/>
          <p:cNvSpPr txBox="1"/>
          <p:nvPr/>
        </p:nvSpPr>
        <p:spPr>
          <a:xfrm>
            <a:off x="5120640" y="3300984"/>
            <a:ext cx="3566160" cy="512064"/>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Not currently offered; contact IT Support</a:t>
            </a:r>
            <a:endParaRPr lang="en-US" sz="1300" dirty="0"/>
          </a:p>
        </p:txBody>
      </p:sp>
      <p:sp>
        <p:nvSpPr>
          <p:cNvPr id="20" name="Shape 18"/>
          <p:cNvSpPr/>
          <p:nvPr/>
        </p:nvSpPr>
        <p:spPr>
          <a:xfrm>
            <a:off x="457200" y="3959352"/>
            <a:ext cx="4206240" cy="512064"/>
          </a:xfrm>
          <a:prstGeom prst="roundRect">
            <a:avLst>
              <a:gd name="adj" fmla="val 14286"/>
            </a:avLst>
          </a:prstGeom>
          <a:solidFill>
            <a:srgbClr val="FBE3D3"/>
          </a:solidFill>
          <a:ln w="12700">
            <a:solidFill>
              <a:srgbClr val="FBE3D3"/>
            </a:solidFill>
            <a:prstDash val="solid"/>
          </a:ln>
        </p:spPr>
      </p:sp>
      <p:sp>
        <p:nvSpPr>
          <p:cNvPr id="21" name="Text 19"/>
          <p:cNvSpPr txBox="1"/>
          <p:nvPr/>
        </p:nvSpPr>
        <p:spPr>
          <a:xfrm>
            <a:off x="640080" y="3959352"/>
            <a:ext cx="3931920" cy="512064"/>
          </a:xfrm>
          <a:prstGeom prst="rect">
            <a:avLst/>
          </a:prstGeom>
          <a:noFill/>
          <a:ln/>
        </p:spPr>
        <p:txBody>
          <a:bodyPr wrap="square" lIns="0" tIns="0" rIns="0" bIns="0" rtlCol="0" anchor="ctr"/>
          <a:lstStyle/>
          <a:p>
            <a:pPr indent="0" marL="0">
              <a:buNone/>
            </a:pPr>
            <a:r>
              <a:rPr lang="en-US" sz="1300" b="1" dirty="0">
                <a:solidFill>
                  <a:srgbClr val="1C2430"/>
                </a:solidFill>
                <a:latin typeface="Calibri" pitchFamily="34" charset="0"/>
                <a:ea typeface="Calibri" pitchFamily="34" charset="-122"/>
                <a:cs typeface="Calibri" pitchFamily="34" charset="-120"/>
              </a:rPr>
              <a:t>"Write me a poem about the beach"</a:t>
            </a:r>
            <a:endParaRPr lang="en-US" sz="1300" dirty="0"/>
          </a:p>
        </p:txBody>
      </p:sp>
      <p:sp>
        <p:nvSpPr>
          <p:cNvPr id="22" name="Text 20"/>
          <p:cNvSpPr txBox="1"/>
          <p:nvPr/>
        </p:nvSpPr>
        <p:spPr>
          <a:xfrm>
            <a:off x="4709160" y="3959352"/>
            <a:ext cx="365760" cy="512064"/>
          </a:xfrm>
          <a:prstGeom prst="rect">
            <a:avLst/>
          </a:prstGeom>
          <a:noFill/>
          <a:ln/>
        </p:spPr>
        <p:txBody>
          <a:bodyPr wrap="square" lIns="0" tIns="0" rIns="0" bIns="0" rtlCol="0" anchor="ctr"/>
          <a:lstStyle/>
          <a:p>
            <a:pPr algn="ctr" indent="0" marL="0">
              <a:buNone/>
            </a:pPr>
            <a:r>
              <a:rPr lang="en-US" sz="1800" dirty="0">
                <a:solidFill>
                  <a:srgbClr val="5F6B7A"/>
                </a:solidFill>
                <a:latin typeface="Calibri" pitchFamily="34" charset="0"/>
                <a:ea typeface="Calibri" pitchFamily="34" charset="-122"/>
                <a:cs typeface="Calibri" pitchFamily="34" charset="-120"/>
              </a:rPr>
              <a:t>→</a:t>
            </a:r>
            <a:endParaRPr lang="en-US" sz="1800" dirty="0"/>
          </a:p>
        </p:txBody>
      </p:sp>
      <p:sp>
        <p:nvSpPr>
          <p:cNvPr id="23" name="Text 21"/>
          <p:cNvSpPr txBox="1"/>
          <p:nvPr/>
        </p:nvSpPr>
        <p:spPr>
          <a:xfrm>
            <a:off x="5120640" y="3959352"/>
            <a:ext cx="3566160" cy="512064"/>
          </a:xfrm>
          <a:prstGeom prst="rect">
            <a:avLst/>
          </a:prstGeom>
          <a:noFill/>
          <a:ln/>
        </p:spPr>
        <p:txBody>
          <a:bodyPr wrap="square" lIns="0" tIns="0" rIns="0" bIns="0" rtlCol="0" anchor="ctr"/>
          <a:lstStyle/>
          <a:p>
            <a:pPr indent="0" marL="0">
              <a:buNone/>
            </a:pPr>
            <a:r>
              <a:rPr lang="en-US" sz="1300" dirty="0">
                <a:solidFill>
                  <a:srgbClr val="1C2430"/>
                </a:solidFill>
                <a:latin typeface="Calibri" pitchFamily="34" charset="0"/>
                <a:ea typeface="Calibri" pitchFamily="34" charset="-122"/>
                <a:cs typeface="Calibri" pitchFamily="34" charset="-120"/>
              </a:rPr>
              <a:t>Exact out-of-scope refusal</a:t>
            </a:r>
            <a:endParaRPr lang="en-US" sz="1300" dirty="0"/>
          </a:p>
        </p:txBody>
      </p:sp>
      <p:sp>
        <p:nvSpPr>
          <p:cNvPr id="24" name="Text 22"/>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Challenges and decisions</a:t>
            </a:r>
            <a:endParaRPr lang="en-US" sz="2800" dirty="0"/>
          </a:p>
        </p:txBody>
      </p:sp>
      <p:sp>
        <p:nvSpPr>
          <p:cNvPr id="3" name="Shape 1"/>
          <p:cNvSpPr/>
          <p:nvPr/>
        </p:nvSpPr>
        <p:spPr>
          <a:xfrm>
            <a:off x="457200" y="1188720"/>
            <a:ext cx="4023360" cy="1554480"/>
          </a:xfrm>
          <a:prstGeom prst="roundRect">
            <a:avLst>
              <a:gd name="adj" fmla="val 4706"/>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40080" y="1371600"/>
            <a:ext cx="411480" cy="411480"/>
          </a:xfrm>
          <a:prstGeom prst="roundRect">
            <a:avLst>
              <a:gd name="adj" fmla="val 22222"/>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738835" y="1470355"/>
            <a:ext cx="213970" cy="213970"/>
          </a:xfrm>
          <a:prstGeom prst="rect">
            <a:avLst/>
          </a:prstGeom>
        </p:spPr>
      </p:pic>
      <p:sp>
        <p:nvSpPr>
          <p:cNvPr id="6" name="Text 3"/>
          <p:cNvSpPr txBox="1"/>
          <p:nvPr/>
        </p:nvSpPr>
        <p:spPr>
          <a:xfrm>
            <a:off x="1188720" y="1371600"/>
            <a:ext cx="3154680" cy="41148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Gemma ignores extra system messages</a:t>
            </a:r>
            <a:endParaRPr lang="en-US" sz="1300" dirty="0"/>
          </a:p>
        </p:txBody>
      </p:sp>
      <p:sp>
        <p:nvSpPr>
          <p:cNvPr id="7" name="Text 4"/>
          <p:cNvSpPr txBox="1"/>
          <p:nvPr/>
        </p:nvSpPr>
        <p:spPr>
          <a:xfrm>
            <a:off x="640080" y="1920240"/>
            <a:ext cx="3657600" cy="7315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Its template renders them as user turns, so KB context goes in the final user message, beside the question.</a:t>
            </a:r>
            <a:endParaRPr lang="en-US" sz="1200" dirty="0"/>
          </a:p>
        </p:txBody>
      </p:sp>
      <p:sp>
        <p:nvSpPr>
          <p:cNvPr id="8" name="Shape 5"/>
          <p:cNvSpPr/>
          <p:nvPr/>
        </p:nvSpPr>
        <p:spPr>
          <a:xfrm>
            <a:off x="4663440" y="1188720"/>
            <a:ext cx="4023360" cy="1554480"/>
          </a:xfrm>
          <a:prstGeom prst="roundRect">
            <a:avLst>
              <a:gd name="adj" fmla="val 4706"/>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846320" y="1371600"/>
            <a:ext cx="411480" cy="411480"/>
          </a:xfrm>
          <a:prstGeom prst="roundRect">
            <a:avLst>
              <a:gd name="adj" fmla="val 22222"/>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4945075" y="1470355"/>
            <a:ext cx="213970" cy="213970"/>
          </a:xfrm>
          <a:prstGeom prst="rect">
            <a:avLst/>
          </a:prstGeom>
        </p:spPr>
      </p:pic>
      <p:sp>
        <p:nvSpPr>
          <p:cNvPr id="11" name="Text 7"/>
          <p:cNvSpPr txBox="1"/>
          <p:nvPr/>
        </p:nvSpPr>
        <p:spPr>
          <a:xfrm>
            <a:off x="5394960" y="1371600"/>
            <a:ext cx="3154680" cy="41148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Python 3.14 install friction</a:t>
            </a:r>
            <a:endParaRPr lang="en-US" sz="1300" dirty="0"/>
          </a:p>
        </p:txBody>
      </p:sp>
      <p:sp>
        <p:nvSpPr>
          <p:cNvPr id="12" name="Text 8"/>
          <p:cNvSpPr txBox="1"/>
          <p:nvPr/>
        </p:nvSpPr>
        <p:spPr>
          <a:xfrm>
            <a:off x="4846320" y="1920240"/>
            <a:ext cx="3657600" cy="7315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Switched from sentence-transformers to Ollama embeddings: no PyTorch, one model server.</a:t>
            </a:r>
            <a:endParaRPr lang="en-US" sz="1200" dirty="0"/>
          </a:p>
        </p:txBody>
      </p:sp>
      <p:sp>
        <p:nvSpPr>
          <p:cNvPr id="13" name="Shape 9"/>
          <p:cNvSpPr/>
          <p:nvPr/>
        </p:nvSpPr>
        <p:spPr>
          <a:xfrm>
            <a:off x="457200" y="2926080"/>
            <a:ext cx="4023360" cy="1554480"/>
          </a:xfrm>
          <a:prstGeom prst="roundRect">
            <a:avLst>
              <a:gd name="adj" fmla="val 4706"/>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640080" y="3108960"/>
            <a:ext cx="411480" cy="411480"/>
          </a:xfrm>
          <a:prstGeom prst="roundRect">
            <a:avLst>
              <a:gd name="adj" fmla="val 22222"/>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738835" y="3207715"/>
            <a:ext cx="213970" cy="213970"/>
          </a:xfrm>
          <a:prstGeom prst="rect">
            <a:avLst/>
          </a:prstGeom>
        </p:spPr>
      </p:pic>
      <p:sp>
        <p:nvSpPr>
          <p:cNvPr id="16" name="Text 11"/>
          <p:cNvSpPr txBox="1"/>
          <p:nvPr/>
        </p:nvSpPr>
        <p:spPr>
          <a:xfrm>
            <a:off x="1188720" y="3108960"/>
            <a:ext cx="3154680" cy="41148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Router was too strict</a:t>
            </a:r>
            <a:endParaRPr lang="en-US" sz="1300" dirty="0"/>
          </a:p>
        </p:txBody>
      </p:sp>
      <p:sp>
        <p:nvSpPr>
          <p:cNvPr id="17" name="Text 12"/>
          <p:cNvSpPr txBox="1"/>
          <p:nvPr/>
        </p:nvSpPr>
        <p:spPr>
          <a:xfrm>
            <a:off x="640080" y="3657600"/>
            <a:ext cx="3657600" cy="7315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Real IT questions were refused, so the IT vocabulary was widened (plurals, devices) and license nouns count as in scope.</a:t>
            </a:r>
            <a:endParaRPr lang="en-US" sz="1200" dirty="0"/>
          </a:p>
        </p:txBody>
      </p:sp>
      <p:sp>
        <p:nvSpPr>
          <p:cNvPr id="18" name="Shape 13"/>
          <p:cNvSpPr/>
          <p:nvPr/>
        </p:nvSpPr>
        <p:spPr>
          <a:xfrm>
            <a:off x="4663440" y="2926080"/>
            <a:ext cx="4023360" cy="1554480"/>
          </a:xfrm>
          <a:prstGeom prst="roundRect">
            <a:avLst>
              <a:gd name="adj" fmla="val 4706"/>
            </a:avLst>
          </a:prstGeom>
          <a:solidFill>
            <a:srgbClr val="FFFFFF"/>
          </a:solidFill>
          <a:ln w="12700">
            <a:solidFill>
              <a:srgbClr val="E1E7EC"/>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4846320" y="3108960"/>
            <a:ext cx="411480" cy="411480"/>
          </a:xfrm>
          <a:prstGeom prst="roundRect">
            <a:avLst>
              <a:gd name="adj" fmla="val 22222"/>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4945075" y="3207715"/>
            <a:ext cx="213970" cy="213970"/>
          </a:xfrm>
          <a:prstGeom prst="rect">
            <a:avLst/>
          </a:prstGeom>
        </p:spPr>
      </p:pic>
      <p:sp>
        <p:nvSpPr>
          <p:cNvPr id="21" name="Text 15"/>
          <p:cNvSpPr txBox="1"/>
          <p:nvPr/>
        </p:nvSpPr>
        <p:spPr>
          <a:xfrm>
            <a:off x="5394960" y="3108960"/>
            <a:ext cx="3154680" cy="411480"/>
          </a:xfrm>
          <a:prstGeom prst="rect">
            <a:avLst/>
          </a:prstGeom>
          <a:noFill/>
          <a:ln/>
        </p:spPr>
        <p:txBody>
          <a:bodyPr wrap="square" lIns="0" tIns="0" rIns="0" bIns="0" rtlCol="0" anchor="ctr"/>
          <a:lstStyle/>
          <a:p>
            <a:pPr indent="0" marL="0">
              <a:buNone/>
            </a:pPr>
            <a:r>
              <a:rPr lang="en-US" sz="1300" b="1" dirty="0">
                <a:solidFill>
                  <a:srgbClr val="1C2430"/>
                </a:solidFill>
                <a:latin typeface="Arial" pitchFamily="34" charset="0"/>
                <a:ea typeface="Arial" pitchFamily="34" charset="-122"/>
                <a:cs typeface="Arial" pitchFamily="34" charset="-120"/>
              </a:rPr>
              <a:t>Docker first-run crash</a:t>
            </a:r>
            <a:endParaRPr lang="en-US" sz="1300" dirty="0"/>
          </a:p>
        </p:txBody>
      </p:sp>
      <p:sp>
        <p:nvSpPr>
          <p:cNvPr id="22" name="Text 16"/>
          <p:cNvSpPr txBox="1"/>
          <p:nvPr/>
        </p:nvSpPr>
        <p:spPr>
          <a:xfrm>
            <a:off x="4846320" y="3657600"/>
            <a:ext cx="3657600" cy="7315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The API now starts even when the first knowledge ingest fails.</a:t>
            </a:r>
            <a:endParaRPr lang="en-US" sz="1200" dirty="0"/>
          </a:p>
        </p:txBody>
      </p:sp>
      <p:sp>
        <p:nvSpPr>
          <p:cNvPr id="23" name="Text 17"/>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C2430"/>
                </a:solidFill>
                <a:latin typeface="Arial" pitchFamily="34" charset="0"/>
                <a:ea typeface="Arial" pitchFamily="34" charset="-122"/>
                <a:cs typeface="Arial" pitchFamily="34" charset="-120"/>
              </a:rPr>
              <a:t>Limitations and future work</a:t>
            </a:r>
            <a:endParaRPr lang="en-US" sz="2800" dirty="0"/>
          </a:p>
        </p:txBody>
      </p:sp>
      <p:sp>
        <p:nvSpPr>
          <p:cNvPr id="3" name="Shape 1"/>
          <p:cNvSpPr/>
          <p:nvPr/>
        </p:nvSpPr>
        <p:spPr>
          <a:xfrm>
            <a:off x="457200" y="1097280"/>
            <a:ext cx="3931920" cy="3566160"/>
          </a:xfrm>
          <a:prstGeom prst="roundRect">
            <a:avLst>
              <a:gd name="adj" fmla="val 2051"/>
            </a:avLst>
          </a:prstGeom>
          <a:solidFill>
            <a:srgbClr val="F4F7F9"/>
          </a:solidFill>
          <a:ln w="12700">
            <a:solidFill>
              <a:srgbClr val="F4F7F9"/>
            </a:solidFill>
            <a:prstDash val="solid"/>
          </a:ln>
        </p:spPr>
      </p:sp>
      <p:sp>
        <p:nvSpPr>
          <p:cNvPr id="4" name="Text 2"/>
          <p:cNvSpPr txBox="1"/>
          <p:nvPr/>
        </p:nvSpPr>
        <p:spPr>
          <a:xfrm>
            <a:off x="731520" y="1280160"/>
            <a:ext cx="3474720" cy="365760"/>
          </a:xfrm>
          <a:prstGeom prst="rect">
            <a:avLst/>
          </a:prstGeom>
          <a:noFill/>
          <a:ln/>
        </p:spPr>
        <p:txBody>
          <a:bodyPr wrap="square" lIns="0" tIns="0" rIns="0" bIns="0" rtlCol="0" anchor="ctr"/>
          <a:lstStyle/>
          <a:p>
            <a:pPr indent="0" marL="0">
              <a:buNone/>
            </a:pPr>
            <a:r>
              <a:rPr lang="en-US" sz="1600" b="1" dirty="0">
                <a:solidFill>
                  <a:srgbClr val="1C2430"/>
                </a:solidFill>
                <a:latin typeface="Arial" pitchFamily="34" charset="0"/>
                <a:ea typeface="Arial" pitchFamily="34" charset="-122"/>
                <a:cs typeface="Arial" pitchFamily="34" charset="-120"/>
              </a:rPr>
              <a:t>Current limitations</a:t>
            </a:r>
            <a:endParaRPr lang="en-US" sz="1600" dirty="0"/>
          </a:p>
        </p:txBody>
      </p:sp>
      <p:sp>
        <p:nvSpPr>
          <p:cNvPr id="5" name="Text 3"/>
          <p:cNvSpPr txBox="1"/>
          <p:nvPr/>
        </p:nvSpPr>
        <p:spPr>
          <a:xfrm>
            <a:off x="731520" y="178308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Small 2B model can still misread steps</a:t>
            </a:r>
            <a:endParaRPr lang="en-US" sz="1400" dirty="0"/>
          </a:p>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Keyword router needs vocabulary upkeep</a:t>
            </a:r>
            <a:endParaRPr lang="en-US" sz="1400" dirty="0"/>
          </a:p>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Only 14 seed articles</a:t>
            </a:r>
            <a:endParaRPr lang="en-US" sz="1400" dirty="0"/>
          </a:p>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No login or saved chat history</a:t>
            </a:r>
            <a:endParaRPr lang="en-US" sz="1400" dirty="0"/>
          </a:p>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Sample license data; no real purchasing</a:t>
            </a:r>
            <a:endParaRPr lang="en-US" sz="1400" dirty="0"/>
          </a:p>
        </p:txBody>
      </p:sp>
      <p:sp>
        <p:nvSpPr>
          <p:cNvPr id="6" name="Shape 4"/>
          <p:cNvSpPr/>
          <p:nvPr/>
        </p:nvSpPr>
        <p:spPr>
          <a:xfrm>
            <a:off x="4754880" y="1097280"/>
            <a:ext cx="3931920" cy="3566160"/>
          </a:xfrm>
          <a:prstGeom prst="roundRect">
            <a:avLst>
              <a:gd name="adj" fmla="val 2051"/>
            </a:avLst>
          </a:prstGeom>
          <a:solidFill>
            <a:srgbClr val="D8F0EC"/>
          </a:solidFill>
          <a:ln w="12700">
            <a:solidFill>
              <a:srgbClr val="D8F0EC"/>
            </a:solidFill>
            <a:prstDash val="solid"/>
          </a:ln>
        </p:spPr>
      </p:sp>
      <p:sp>
        <p:nvSpPr>
          <p:cNvPr id="7" name="Text 5"/>
          <p:cNvSpPr txBox="1"/>
          <p:nvPr/>
        </p:nvSpPr>
        <p:spPr>
          <a:xfrm>
            <a:off x="5029200" y="1280160"/>
            <a:ext cx="3474720" cy="365760"/>
          </a:xfrm>
          <a:prstGeom prst="rect">
            <a:avLst/>
          </a:prstGeom>
          <a:noFill/>
          <a:ln/>
        </p:spPr>
        <p:txBody>
          <a:bodyPr wrap="square" lIns="0" tIns="0" rIns="0" bIns="0" rtlCol="0" anchor="ctr"/>
          <a:lstStyle/>
          <a:p>
            <a:pPr indent="0" marL="0">
              <a:buNone/>
            </a:pPr>
            <a:r>
              <a:rPr lang="en-US" sz="1600" b="1" dirty="0">
                <a:solidFill>
                  <a:srgbClr val="14897C"/>
                </a:solidFill>
                <a:latin typeface="Arial" pitchFamily="34" charset="0"/>
                <a:ea typeface="Arial" pitchFamily="34" charset="-122"/>
                <a:cs typeface="Arial" pitchFamily="34" charset="-120"/>
              </a:rPr>
              <a:t>Next steps</a:t>
            </a:r>
            <a:endParaRPr lang="en-US" sz="1600" dirty="0"/>
          </a:p>
        </p:txBody>
      </p:sp>
      <p:sp>
        <p:nvSpPr>
          <p:cNvPr id="8" name="Text 6"/>
          <p:cNvSpPr txBox="1"/>
          <p:nvPr/>
        </p:nvSpPr>
        <p:spPr>
          <a:xfrm>
            <a:off x="5029200" y="178308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Grow the knowledge base from real helpdesk tickets</a:t>
            </a:r>
            <a:endParaRPr lang="en-US" sz="1400" dirty="0"/>
          </a:p>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Add staff login and saved conversations</a:t>
            </a:r>
            <a:endParaRPr lang="en-US" sz="1400" dirty="0"/>
          </a:p>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Hand off to a human ticket when unresolved</a:t>
            </a:r>
            <a:endParaRPr lang="en-US" sz="1400" dirty="0"/>
          </a:p>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Evaluate answer quality with a question set</a:t>
            </a:r>
            <a:endParaRPr lang="en-US" sz="1400" dirty="0"/>
          </a:p>
          <a:p>
            <a:pPr marL="342900" indent="-342900">
              <a:spcAft>
                <a:spcPts val="800"/>
              </a:spcAft>
              <a:buSzPct val="100000"/>
              <a:buChar char="•"/>
            </a:pPr>
            <a:r>
              <a:rPr lang="en-US" sz="1400" dirty="0">
                <a:solidFill>
                  <a:srgbClr val="1C2430"/>
                </a:solidFill>
                <a:latin typeface="Calibri" pitchFamily="34" charset="0"/>
                <a:ea typeface="Calibri" pitchFamily="34" charset="-122"/>
                <a:cs typeface="Calibri" pitchFamily="34" charset="-120"/>
              </a:rPr>
              <a:t>Try a larger model where hardware allows</a:t>
            </a:r>
            <a:endParaRPr lang="en-US" sz="1400" dirty="0"/>
          </a:p>
        </p:txBody>
      </p:sp>
      <p:sp>
        <p:nvSpPr>
          <p:cNvPr id="9" name="Text 7"/>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F6B7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212B"/>
        </a:solidFill>
      </p:bgPr>
    </p:bg>
    <p:spTree>
      <p:nvGrpSpPr>
        <p:cNvPr id="1" name=""/>
        <p:cNvGrpSpPr/>
        <p:nvPr/>
      </p:nvGrpSpPr>
      <p:grpSpPr>
        <a:xfrm>
          <a:off x="0" y="0"/>
          <a:ext cx="0" cy="0"/>
          <a:chOff x="0" y="0"/>
          <a:chExt cx="0" cy="0"/>
        </a:xfrm>
      </p:grpSpPr>
      <p:sp>
        <p:nvSpPr>
          <p:cNvPr id="2" name="Shape 0"/>
          <p:cNvSpPr/>
          <p:nvPr/>
        </p:nvSpPr>
        <p:spPr>
          <a:xfrm>
            <a:off x="548640" y="1188720"/>
            <a:ext cx="731520" cy="731520"/>
          </a:xfrm>
          <a:prstGeom prst="roundRect">
            <a:avLst>
              <a:gd name="adj" fmla="val 12500"/>
            </a:avLst>
          </a:prstGeom>
          <a:solidFill>
            <a:srgbClr val="14897C"/>
          </a:solidFill>
          <a:ln w="12700">
            <a:solidFill>
              <a:srgbClr val="14897C"/>
            </a:solidFill>
            <a:prstDash val="solid"/>
          </a:ln>
        </p:spPr>
      </p:sp>
      <p:pic>
        <p:nvPicPr>
          <p:cNvPr id="3" name="Image 0" descr="preencoded.png">    </p:cNvPr>
          <p:cNvPicPr>
            <a:picLocks noChangeAspect="1"/>
          </p:cNvPicPr>
          <p:nvPr/>
        </p:nvPicPr>
        <p:blipFill>
          <a:blip r:embed="rId1"/>
          <a:stretch>
            <a:fillRect/>
          </a:stretch>
        </p:blipFill>
        <p:spPr>
          <a:xfrm>
            <a:off x="724205" y="1364285"/>
            <a:ext cx="380390" cy="380390"/>
          </a:xfrm>
          <a:prstGeom prst="rect">
            <a:avLst/>
          </a:prstGeom>
        </p:spPr>
      </p:pic>
      <p:sp>
        <p:nvSpPr>
          <p:cNvPr id="4" name="Text 1"/>
          <p:cNvSpPr txBox="1"/>
          <p:nvPr/>
        </p:nvSpPr>
        <p:spPr>
          <a:xfrm>
            <a:off x="548640" y="2103120"/>
            <a:ext cx="77724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Questions?</a:t>
            </a:r>
            <a:endParaRPr lang="en-US" sz="4200" dirty="0"/>
          </a:p>
        </p:txBody>
      </p:sp>
      <p:sp>
        <p:nvSpPr>
          <p:cNvPr id="5" name="Text 2"/>
          <p:cNvSpPr txBox="1"/>
          <p:nvPr/>
        </p:nvSpPr>
        <p:spPr>
          <a:xfrm>
            <a:off x="548640" y="2926080"/>
            <a:ext cx="7589520" cy="731520"/>
          </a:xfrm>
          <a:prstGeom prst="rect">
            <a:avLst/>
          </a:prstGeom>
          <a:noFill/>
          <a:ln/>
        </p:spPr>
        <p:txBody>
          <a:bodyPr wrap="square" lIns="0" tIns="0" rIns="0" bIns="0" rtlCol="0" anchor="ctr"/>
          <a:lstStyle/>
          <a:p>
            <a:pPr indent="0" marL="0">
              <a:buNone/>
            </a:pPr>
            <a:r>
              <a:rPr lang="en-US" sz="1700" dirty="0">
                <a:solidFill>
                  <a:srgbClr val="BFD3DC"/>
                </a:solidFill>
                <a:latin typeface="Calibri" pitchFamily="34" charset="0"/>
                <a:ea typeface="Calibri" pitchFamily="34" charset="-122"/>
                <a:cs typeface="Calibri" pitchFamily="34" charset="-120"/>
              </a:rPr>
              <a:t>Local LLM + RAG + a strict router = an IT assistant that stays on topic and cites its sources.</a:t>
            </a:r>
            <a:endParaRPr lang="en-US" sz="1700" dirty="0"/>
          </a:p>
        </p:txBody>
      </p:sp>
      <p:sp>
        <p:nvSpPr>
          <p:cNvPr id="6" name="Text 3"/>
          <p:cNvSpPr txBox="1"/>
          <p:nvPr/>
        </p:nvSpPr>
        <p:spPr>
          <a:xfrm>
            <a:off x="548640" y="4206240"/>
            <a:ext cx="7315200" cy="365760"/>
          </a:xfrm>
          <a:prstGeom prst="rect">
            <a:avLst/>
          </a:prstGeom>
          <a:noFill/>
          <a:ln/>
        </p:spPr>
        <p:txBody>
          <a:bodyPr wrap="square" lIns="0" tIns="0" rIns="0" bIns="0" rtlCol="0" anchor="ctr"/>
          <a:lstStyle/>
          <a:p>
            <a:pPr indent="0" marL="0">
              <a:buNone/>
            </a:pPr>
            <a:r>
              <a:rPr lang="en-US" sz="1300" dirty="0">
                <a:solidFill>
                  <a:srgbClr val="F2A541"/>
                </a:solidFill>
                <a:latin typeface="Calibri" pitchFamily="34" charset="0"/>
                <a:ea typeface="Calibri" pitchFamily="34" charset="-122"/>
                <a:cs typeface="Calibri" pitchFamily="34" charset="-120"/>
              </a:rPr>
              <a:t>ITEC 320  ·  IT Support Chatbot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Support Chatbot</dc:title>
  <dc:subject>PptxGenJS Presentation</dc:subject>
  <dc:creator>PptxGenJS</dc:creator>
  <cp:lastModifiedBy>PptxGenJS</cp:lastModifiedBy>
  <cp:revision>1</cp:revision>
  <dcterms:created xsi:type="dcterms:W3CDTF">2026-09-30T10:24:42Z</dcterms:created>
  <dcterms:modified xsi:type="dcterms:W3CDTF">2026-09-30T10:24:42Z</dcterms:modified>
</cp:coreProperties>
</file>